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23DA532E-F642-4086-AB5E-0C843E876D8B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5/7/26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E42B342-E2B9-43CC-AA91-C36EFCF2642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>
            <a:off x="274320" y="182880"/>
            <a:ext cx="11612520" cy="45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274320" y="6629400"/>
            <a:ext cx="11612520" cy="4536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" name="CustomShape 4"/>
          <p:cNvSpPr/>
          <p:nvPr/>
        </p:nvSpPr>
        <p:spPr>
          <a:xfrm>
            <a:off x="548640" y="365760"/>
            <a:ext cx="109724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8b949e"/>
                </a:solidFill>
                <a:latin typeface="Calibri"/>
              </a:rPr>
              <a:t>AI FOR BHARAT HACKATHON  ·  THEME 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548640" y="1280160"/>
            <a:ext cx="10972440" cy="109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6600" spc="-1" strike="noStrike">
                <a:solidFill>
                  <a:srgbClr val="ffffff"/>
                </a:solidFill>
                <a:latin typeface="Calibri"/>
              </a:rPr>
              <a:t>UBID Platform</a:t>
            </a:r>
            <a:endParaRPr b="0" lang="en-IN" sz="66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>
            <a:off x="548640" y="2651760"/>
            <a:ext cx="1005804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2600" spc="-1" strike="noStrike">
                <a:solidFill>
                  <a:srgbClr val="38bdf8"/>
                </a:solidFill>
                <a:latin typeface="Calibri"/>
              </a:rPr>
              <a:t>Unified Business Identity &amp; Activity Intelligence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548640" y="3520440"/>
            <a:ext cx="9143640" cy="608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700" spc="-1" strike="noStrike">
                <a:solidFill>
                  <a:srgbClr val="c9d1d9"/>
                </a:solidFill>
                <a:latin typeface="Calibri"/>
              </a:rPr>
              <a:t>A continuously-running data pipeline that assigns a single Unified Business ID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700" spc="-1" strike="noStrike">
                <a:solidFill>
                  <a:srgbClr val="c9d1d9"/>
                </a:solidFill>
                <a:latin typeface="Calibri"/>
              </a:rPr>
              <a:t>to every business across Karnataka's 40+ siloed department systems.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48" name="CustomShape 8"/>
          <p:cNvSpPr/>
          <p:nvPr/>
        </p:nvSpPr>
        <p:spPr>
          <a:xfrm>
            <a:off x="548640" y="4846320"/>
            <a:ext cx="2651400" cy="1462680"/>
          </a:xfrm>
          <a:prstGeom prst="rect">
            <a:avLst/>
          </a:prstGeom>
          <a:solidFill>
            <a:srgbClr val="1c273a"/>
          </a:solidFill>
          <a:ln w="1908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CustomShape 9"/>
          <p:cNvSpPr/>
          <p:nvPr/>
        </p:nvSpPr>
        <p:spPr>
          <a:xfrm>
            <a:off x="685800" y="5166360"/>
            <a:ext cx="237708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DETERMINISTIC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ENTITY RESOLUTION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0" name="CustomShape 10"/>
          <p:cNvSpPr/>
          <p:nvPr/>
        </p:nvSpPr>
        <p:spPr>
          <a:xfrm>
            <a:off x="3383280" y="4846320"/>
            <a:ext cx="2651400" cy="1462680"/>
          </a:xfrm>
          <a:prstGeom prst="rect">
            <a:avLst/>
          </a:prstGeom>
          <a:solidFill>
            <a:srgbClr val="1c273a"/>
          </a:solidFill>
          <a:ln w="1908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11"/>
          <p:cNvSpPr/>
          <p:nvPr/>
        </p:nvSpPr>
        <p:spPr>
          <a:xfrm>
            <a:off x="3520440" y="5166360"/>
            <a:ext cx="237708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f97116"/>
                </a:solidFill>
                <a:latin typeface="Calibri"/>
              </a:rPr>
              <a:t>HUMAN-IN-THE-LOOP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97116"/>
                </a:solidFill>
                <a:latin typeface="Calibri"/>
              </a:rPr>
              <a:t>REVIEW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2" name="CustomShape 12"/>
          <p:cNvSpPr/>
          <p:nvPr/>
        </p:nvSpPr>
        <p:spPr>
          <a:xfrm>
            <a:off x="6217920" y="4846320"/>
            <a:ext cx="2651400" cy="1462680"/>
          </a:xfrm>
          <a:prstGeom prst="rect">
            <a:avLst/>
          </a:prstGeom>
          <a:solidFill>
            <a:srgbClr val="1c273a"/>
          </a:solidFill>
          <a:ln w="1908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CustomShape 13"/>
          <p:cNvSpPr/>
          <p:nvPr/>
        </p:nvSpPr>
        <p:spPr>
          <a:xfrm>
            <a:off x="6355080" y="5166360"/>
            <a:ext cx="237708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2dd4bf"/>
                </a:solidFill>
                <a:latin typeface="Calibri"/>
              </a:rPr>
              <a:t>ACTIVE LEARNING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</a:rPr>
              <a:t>FEEDBACK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CustomShape 14"/>
          <p:cNvSpPr/>
          <p:nvPr/>
        </p:nvSpPr>
        <p:spPr>
          <a:xfrm>
            <a:off x="8229600" y="6309360"/>
            <a:ext cx="36572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0" lang="en-US" sz="1100" spc="-1" strike="noStrike">
                <a:solidFill>
                  <a:srgbClr val="8b949e"/>
                </a:solidFill>
                <a:latin typeface="Calibri"/>
              </a:rPr>
              <a:t>Karnataka Commerce &amp; Industries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f8514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The Problem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7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40+ Department Systems.  Zero Common Identity.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8" name="CustomShape 4"/>
          <p:cNvSpPr/>
          <p:nvPr/>
        </p:nvSpPr>
        <p:spPr>
          <a:xfrm>
            <a:off x="365760" y="141732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CustomShape 5"/>
          <p:cNvSpPr/>
          <p:nvPr/>
        </p:nvSpPr>
        <p:spPr>
          <a:xfrm>
            <a:off x="457200" y="1645920"/>
            <a:ext cx="2285640" cy="1005480"/>
          </a:xfrm>
          <a:prstGeom prst="rect">
            <a:avLst/>
          </a:prstGeom>
          <a:solidFill>
            <a:srgbClr val="1c273a"/>
          </a:solidFill>
          <a:ln w="1908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6"/>
          <p:cNvSpPr/>
          <p:nvPr/>
        </p:nvSpPr>
        <p:spPr>
          <a:xfrm>
            <a:off x="548640" y="1691640"/>
            <a:ext cx="210276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Shop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Establishment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1" name="CustomShape 7"/>
          <p:cNvSpPr/>
          <p:nvPr/>
        </p:nvSpPr>
        <p:spPr>
          <a:xfrm>
            <a:off x="3291840" y="1645920"/>
            <a:ext cx="2285640" cy="1005480"/>
          </a:xfrm>
          <a:prstGeom prst="rect">
            <a:avLst/>
          </a:prstGeom>
          <a:solidFill>
            <a:srgbClr val="1c273a"/>
          </a:solidFill>
          <a:ln w="1908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8"/>
          <p:cNvSpPr/>
          <p:nvPr/>
        </p:nvSpPr>
        <p:spPr>
          <a:xfrm>
            <a:off x="3383280" y="1691640"/>
            <a:ext cx="210276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400" spc="-1" strike="noStrike">
                <a:solidFill>
                  <a:srgbClr val="2dd4bf"/>
                </a:solidFill>
                <a:latin typeface="Calibri"/>
              </a:rPr>
              <a:t>Factories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2dd4bf"/>
                </a:solidFill>
                <a:latin typeface="Calibri"/>
              </a:rPr>
              <a:t>Dept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3" name="CustomShape 9"/>
          <p:cNvSpPr/>
          <p:nvPr/>
        </p:nvSpPr>
        <p:spPr>
          <a:xfrm>
            <a:off x="6126480" y="1645920"/>
            <a:ext cx="2285640" cy="1005480"/>
          </a:xfrm>
          <a:prstGeom prst="rect">
            <a:avLst/>
          </a:prstGeom>
          <a:solidFill>
            <a:srgbClr val="1c273a"/>
          </a:solidFill>
          <a:ln w="1908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" name="CustomShape 10"/>
          <p:cNvSpPr/>
          <p:nvPr/>
        </p:nvSpPr>
        <p:spPr>
          <a:xfrm>
            <a:off x="6217920" y="1691640"/>
            <a:ext cx="210276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KSPCB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Pollution Board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5" name="CustomShape 11"/>
          <p:cNvSpPr/>
          <p:nvPr/>
        </p:nvSpPr>
        <p:spPr>
          <a:xfrm>
            <a:off x="8961120" y="1645920"/>
            <a:ext cx="2285640" cy="1005480"/>
          </a:xfrm>
          <a:prstGeom prst="rect">
            <a:avLst/>
          </a:prstGeom>
          <a:solidFill>
            <a:srgbClr val="1c273a"/>
          </a:solidFill>
          <a:ln w="19080">
            <a:solidFill>
              <a:srgbClr val="d29b2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CustomShape 12"/>
          <p:cNvSpPr/>
          <p:nvPr/>
        </p:nvSpPr>
        <p:spPr>
          <a:xfrm>
            <a:off x="9052560" y="1691640"/>
            <a:ext cx="2102760" cy="516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400" spc="-1" strike="noStrike">
                <a:solidFill>
                  <a:srgbClr val="d29b22"/>
                </a:solidFill>
                <a:latin typeface="Calibri"/>
              </a:rPr>
              <a:t>BWSSB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d29b22"/>
                </a:solidFill>
                <a:latin typeface="Calibri"/>
              </a:rPr>
              <a:t>Water Supply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67" name="CustomShape 13"/>
          <p:cNvSpPr/>
          <p:nvPr/>
        </p:nvSpPr>
        <p:spPr>
          <a:xfrm>
            <a:off x="457200" y="2834640"/>
            <a:ext cx="2285640" cy="1188360"/>
          </a:xfrm>
          <a:prstGeom prst="rect">
            <a:avLst/>
          </a:prstGeom>
          <a:solidFill>
            <a:srgbClr val="161b22"/>
          </a:solidFill>
          <a:ln w="1008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" name="CustomShape 14"/>
          <p:cNvSpPr/>
          <p:nvPr/>
        </p:nvSpPr>
        <p:spPr>
          <a:xfrm>
            <a:off x="567000" y="2907720"/>
            <a:ext cx="2057040" cy="84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SE-00421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Ramesh Textiles Pvt Ltd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PIN 560001   PAN ABCPR1234D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69" name="CustomShape 15"/>
          <p:cNvSpPr/>
          <p:nvPr/>
        </p:nvSpPr>
        <p:spPr>
          <a:xfrm>
            <a:off x="3291840" y="2834640"/>
            <a:ext cx="2285640" cy="1188360"/>
          </a:xfrm>
          <a:prstGeom prst="rect">
            <a:avLst/>
          </a:prstGeom>
          <a:solidFill>
            <a:srgbClr val="161b22"/>
          </a:solidFill>
          <a:ln w="1008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CustomShape 16"/>
          <p:cNvSpPr/>
          <p:nvPr/>
        </p:nvSpPr>
        <p:spPr>
          <a:xfrm>
            <a:off x="3401640" y="2907720"/>
            <a:ext cx="2057040" cy="84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2dd4bf"/>
                </a:solidFill>
                <a:latin typeface="Calibri"/>
              </a:rPr>
              <a:t>FA-9817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Ramesh Tex Pvt Ltd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PIN 560001   PAN ABCPR1234D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1" name="CustomShape 17"/>
          <p:cNvSpPr/>
          <p:nvPr/>
        </p:nvSpPr>
        <p:spPr>
          <a:xfrm>
            <a:off x="6126480" y="2834640"/>
            <a:ext cx="2285640" cy="1188360"/>
          </a:xfrm>
          <a:prstGeom prst="rect">
            <a:avLst/>
          </a:prstGeom>
          <a:solidFill>
            <a:srgbClr val="161b22"/>
          </a:solidFill>
          <a:ln w="1008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CustomShape 18"/>
          <p:cNvSpPr/>
          <p:nvPr/>
        </p:nvSpPr>
        <p:spPr>
          <a:xfrm>
            <a:off x="6236280" y="2907720"/>
            <a:ext cx="2057040" cy="694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KS-2203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M/s Ramesh Textiles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PIN 560001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3" name="CustomShape 19"/>
          <p:cNvSpPr/>
          <p:nvPr/>
        </p:nvSpPr>
        <p:spPr>
          <a:xfrm>
            <a:off x="8961120" y="2834640"/>
            <a:ext cx="2285640" cy="1188360"/>
          </a:xfrm>
          <a:prstGeom prst="rect">
            <a:avLst/>
          </a:prstGeom>
          <a:solidFill>
            <a:srgbClr val="161b22"/>
          </a:solidFill>
          <a:ln w="10080">
            <a:solidFill>
              <a:srgbClr val="d29b2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20"/>
          <p:cNvSpPr/>
          <p:nvPr/>
        </p:nvSpPr>
        <p:spPr>
          <a:xfrm>
            <a:off x="9070920" y="2907720"/>
            <a:ext cx="2057040" cy="84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d29b22"/>
                </a:solidFill>
                <a:latin typeface="Calibri"/>
              </a:rPr>
              <a:t>BW-44A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Ramesh Textiles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PIN 560001   PAN ABCPR1234D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CustomShape 21"/>
          <p:cNvSpPr/>
          <p:nvPr/>
        </p:nvSpPr>
        <p:spPr>
          <a:xfrm>
            <a:off x="2880360" y="3200400"/>
            <a:ext cx="5482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f85149"/>
                </a:solidFill>
                <a:latin typeface="Calibri"/>
              </a:rPr>
              <a:t>≠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76" name="CustomShape 22"/>
          <p:cNvSpPr/>
          <p:nvPr/>
        </p:nvSpPr>
        <p:spPr>
          <a:xfrm>
            <a:off x="5715000" y="3200400"/>
            <a:ext cx="5482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f85149"/>
                </a:solidFill>
                <a:latin typeface="Calibri"/>
              </a:rPr>
              <a:t>≠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77" name="CustomShape 23"/>
          <p:cNvSpPr/>
          <p:nvPr/>
        </p:nvSpPr>
        <p:spPr>
          <a:xfrm>
            <a:off x="8549640" y="3200400"/>
            <a:ext cx="548280" cy="516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2800" spc="-1" strike="noStrike">
                <a:solidFill>
                  <a:srgbClr val="f85149"/>
                </a:solidFill>
                <a:latin typeface="Calibri"/>
              </a:rPr>
              <a:t>≠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78" name="CustomShape 24"/>
          <p:cNvSpPr/>
          <p:nvPr/>
        </p:nvSpPr>
        <p:spPr>
          <a:xfrm>
            <a:off x="365760" y="4206240"/>
            <a:ext cx="1142964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i="1" lang="en-US" sz="1400" spc="-1" strike="noStrike">
                <a:solidFill>
                  <a:srgbClr val="c9d1d9"/>
                </a:solidFill>
                <a:latin typeface="Calibri"/>
              </a:rPr>
              <a:t>→  </a:t>
            </a:r>
            <a:r>
              <a:rPr b="0" i="1" lang="en-US" sz="1400" spc="-1" strike="noStrike">
                <a:solidFill>
                  <a:srgbClr val="c9d1d9"/>
                </a:solidFill>
                <a:latin typeface="Calibri"/>
              </a:rPr>
              <a:t>The same business appears as 4 completely unrelated records because each department built its own identifier.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9" name="CustomShape 25"/>
          <p:cNvSpPr/>
          <p:nvPr/>
        </p:nvSpPr>
        <p:spPr>
          <a:xfrm>
            <a:off x="457200" y="4892040"/>
            <a:ext cx="3565800" cy="155412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CustomShape 26"/>
          <p:cNvSpPr/>
          <p:nvPr/>
        </p:nvSpPr>
        <p:spPr>
          <a:xfrm>
            <a:off x="621720" y="5029200"/>
            <a:ext cx="32914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No join key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1" name="CustomShape 27"/>
          <p:cNvSpPr/>
          <p:nvPr/>
        </p:nvSpPr>
        <p:spPr>
          <a:xfrm>
            <a:off x="621720" y="5440680"/>
            <a:ext cx="32914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Departments share no common identifier field.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CustomShape 28"/>
          <p:cNvSpPr/>
          <p:nvPr/>
        </p:nvSpPr>
        <p:spPr>
          <a:xfrm>
            <a:off x="4297680" y="4892040"/>
            <a:ext cx="3565800" cy="155412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29"/>
          <p:cNvSpPr/>
          <p:nvPr/>
        </p:nvSpPr>
        <p:spPr>
          <a:xfrm>
            <a:off x="4462200" y="5029200"/>
            <a:ext cx="32914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No source changes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CustomShape 30"/>
          <p:cNvSpPr/>
          <p:nvPr/>
        </p:nvSpPr>
        <p:spPr>
          <a:xfrm>
            <a:off x="4462200" y="5440680"/>
            <a:ext cx="32914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Source systems cannot be modified — read-only ingestion only.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5" name="CustomShape 31"/>
          <p:cNvSpPr/>
          <p:nvPr/>
        </p:nvSpPr>
        <p:spPr>
          <a:xfrm>
            <a:off x="8138160" y="4892040"/>
            <a:ext cx="3565800" cy="155412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32"/>
          <p:cNvSpPr/>
          <p:nvPr/>
        </p:nvSpPr>
        <p:spPr>
          <a:xfrm>
            <a:off x="8302680" y="5029200"/>
            <a:ext cx="32914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Wrong merge cost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7" name="CustomShape 33"/>
          <p:cNvSpPr/>
          <p:nvPr/>
        </p:nvSpPr>
        <p:spPr>
          <a:xfrm>
            <a:off x="8302680" y="5440680"/>
            <a:ext cx="32914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A mistaken link corrupts compliance history for two businesses.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d29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The Challenge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0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Why Fuzzy Name Matching Alone Fails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91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2" name="CustomShape 5"/>
          <p:cNvSpPr/>
          <p:nvPr/>
        </p:nvSpPr>
        <p:spPr>
          <a:xfrm>
            <a:off x="457200" y="1508760"/>
            <a:ext cx="10972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c9d1d9"/>
                </a:solidFill>
                <a:latin typeface="Calibri"/>
              </a:rPr>
              <a:t>All four names refer to the same business: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3" name="CustomShape 6"/>
          <p:cNvSpPr/>
          <p:nvPr/>
        </p:nvSpPr>
        <p:spPr>
          <a:xfrm>
            <a:off x="457200" y="2011680"/>
            <a:ext cx="2742840" cy="685440"/>
          </a:xfrm>
          <a:prstGeom prst="rect">
            <a:avLst/>
          </a:prstGeom>
          <a:solidFill>
            <a:srgbClr val="1c273a"/>
          </a:solidFill>
          <a:ln w="1512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7"/>
          <p:cNvSpPr/>
          <p:nvPr/>
        </p:nvSpPr>
        <p:spPr>
          <a:xfrm>
            <a:off x="594360" y="2103120"/>
            <a:ext cx="2468520" cy="515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Ramesh Textiles Pvt. Ltd.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5" name="CustomShape 8"/>
          <p:cNvSpPr/>
          <p:nvPr/>
        </p:nvSpPr>
        <p:spPr>
          <a:xfrm>
            <a:off x="3291840" y="2011680"/>
            <a:ext cx="2742840" cy="685440"/>
          </a:xfrm>
          <a:prstGeom prst="rect">
            <a:avLst/>
          </a:prstGeom>
          <a:solidFill>
            <a:srgbClr val="1c273a"/>
          </a:solidFill>
          <a:ln w="1512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CustomShape 9"/>
          <p:cNvSpPr/>
          <p:nvPr/>
        </p:nvSpPr>
        <p:spPr>
          <a:xfrm>
            <a:off x="3429000" y="2103120"/>
            <a:ext cx="24685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2dd4bf"/>
                </a:solidFill>
                <a:latin typeface="Calibri"/>
              </a:rPr>
              <a:t>M/s Ramesh Textiles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7" name="CustomShape 10"/>
          <p:cNvSpPr/>
          <p:nvPr/>
        </p:nvSpPr>
        <p:spPr>
          <a:xfrm>
            <a:off x="6126480" y="2011680"/>
            <a:ext cx="2742840" cy="685440"/>
          </a:xfrm>
          <a:prstGeom prst="rect">
            <a:avLst/>
          </a:prstGeom>
          <a:solidFill>
            <a:srgbClr val="1c273a"/>
          </a:solidFill>
          <a:ln w="1512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CustomShape 11"/>
          <p:cNvSpPr/>
          <p:nvPr/>
        </p:nvSpPr>
        <p:spPr>
          <a:xfrm>
            <a:off x="6263640" y="2103120"/>
            <a:ext cx="24685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Ramesh Tex Pvt Ltd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CustomShape 12"/>
          <p:cNvSpPr/>
          <p:nvPr/>
        </p:nvSpPr>
        <p:spPr>
          <a:xfrm>
            <a:off x="8961120" y="2011680"/>
            <a:ext cx="2742840" cy="685440"/>
          </a:xfrm>
          <a:prstGeom prst="rect">
            <a:avLst/>
          </a:prstGeom>
          <a:solidFill>
            <a:srgbClr val="1c273a"/>
          </a:solidFill>
          <a:ln w="15120">
            <a:solidFill>
              <a:srgbClr val="d29b2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CustomShape 13"/>
          <p:cNvSpPr/>
          <p:nvPr/>
        </p:nvSpPr>
        <p:spPr>
          <a:xfrm>
            <a:off x="9098280" y="2103120"/>
            <a:ext cx="24685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d29b22"/>
                </a:solidFill>
                <a:latin typeface="Calibri"/>
              </a:rPr>
              <a:t>RTPL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1" name="CustomShape 14"/>
          <p:cNvSpPr/>
          <p:nvPr/>
        </p:nvSpPr>
        <p:spPr>
          <a:xfrm>
            <a:off x="457200" y="2926080"/>
            <a:ext cx="10972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c9d1d9"/>
                </a:solidFill>
                <a:latin typeface="Calibri"/>
              </a:rPr>
              <a:t>What the solution must do: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02" name="CustomShape 15"/>
          <p:cNvSpPr/>
          <p:nvPr/>
        </p:nvSpPr>
        <p:spPr>
          <a:xfrm>
            <a:off x="457200" y="3429000"/>
            <a:ext cx="5577480" cy="1188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CustomShape 16"/>
          <p:cNvSpPr/>
          <p:nvPr/>
        </p:nvSpPr>
        <p:spPr>
          <a:xfrm>
            <a:off x="457200" y="3429000"/>
            <a:ext cx="63720" cy="1188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4" name="CustomShape 17"/>
          <p:cNvSpPr/>
          <p:nvPr/>
        </p:nvSpPr>
        <p:spPr>
          <a:xfrm>
            <a:off x="658440" y="3538800"/>
            <a:ext cx="53031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Multi-signal scoring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5" name="CustomShape 18"/>
          <p:cNvSpPr/>
          <p:nvPr/>
        </p:nvSpPr>
        <p:spPr>
          <a:xfrm>
            <a:off x="658440" y="3931920"/>
            <a:ext cx="5303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Combine name + PAN/GSTIN + address + pin code + sector — not just name.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6" name="CustomShape 19"/>
          <p:cNvSpPr/>
          <p:nvPr/>
        </p:nvSpPr>
        <p:spPr>
          <a:xfrm>
            <a:off x="6263640" y="3429000"/>
            <a:ext cx="5577480" cy="1188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7" name="CustomShape 20"/>
          <p:cNvSpPr/>
          <p:nvPr/>
        </p:nvSpPr>
        <p:spPr>
          <a:xfrm>
            <a:off x="6263640" y="3429000"/>
            <a:ext cx="63720" cy="118836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8" name="CustomShape 21"/>
          <p:cNvSpPr/>
          <p:nvPr/>
        </p:nvSpPr>
        <p:spPr>
          <a:xfrm>
            <a:off x="6464880" y="3538800"/>
            <a:ext cx="53031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Calibrated confidence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9" name="CustomShape 22"/>
          <p:cNvSpPr/>
          <p:nvPr/>
        </p:nvSpPr>
        <p:spPr>
          <a:xfrm>
            <a:off x="6464880" y="3931920"/>
            <a:ext cx="53031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Produce a match probability in [0,1], not a binary match/no-match.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0" name="CustomShape 23"/>
          <p:cNvSpPr/>
          <p:nvPr/>
        </p:nvSpPr>
        <p:spPr>
          <a:xfrm>
            <a:off x="457200" y="4800600"/>
            <a:ext cx="5577480" cy="1188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1" name="CustomShape 24"/>
          <p:cNvSpPr/>
          <p:nvPr/>
        </p:nvSpPr>
        <p:spPr>
          <a:xfrm>
            <a:off x="457200" y="4800600"/>
            <a:ext cx="63720" cy="118836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2" name="CustomShape 25"/>
          <p:cNvSpPr/>
          <p:nvPr/>
        </p:nvSpPr>
        <p:spPr>
          <a:xfrm>
            <a:off x="658440" y="4910400"/>
            <a:ext cx="53031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dd4bf"/>
                </a:solidFill>
                <a:latin typeface="Calibri"/>
              </a:rPr>
              <a:t>Explainability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3" name="CustomShape 26"/>
          <p:cNvSpPr/>
          <p:nvPr/>
        </p:nvSpPr>
        <p:spPr>
          <a:xfrm>
            <a:off x="658440" y="5303520"/>
            <a:ext cx="5303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Every decision must be traceable to specific evidence — field-by-field.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4" name="CustomShape 27"/>
          <p:cNvSpPr/>
          <p:nvPr/>
        </p:nvSpPr>
        <p:spPr>
          <a:xfrm>
            <a:off x="6263640" y="4800600"/>
            <a:ext cx="5577480" cy="1188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CustomShape 28"/>
          <p:cNvSpPr/>
          <p:nvPr/>
        </p:nvSpPr>
        <p:spPr>
          <a:xfrm>
            <a:off x="6263640" y="4800600"/>
            <a:ext cx="63720" cy="118836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6" name="CustomShape 29"/>
          <p:cNvSpPr/>
          <p:nvPr/>
        </p:nvSpPr>
        <p:spPr>
          <a:xfrm>
            <a:off x="6464880" y="4910400"/>
            <a:ext cx="530316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3fb950"/>
                </a:solidFill>
                <a:latin typeface="Calibri"/>
              </a:rPr>
              <a:t>Bias toward caution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CustomShape 30"/>
          <p:cNvSpPr/>
          <p:nvPr/>
        </p:nvSpPr>
        <p:spPr>
          <a:xfrm>
            <a:off x="6464880" y="5303520"/>
            <a:ext cx="5303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A missed link is recoverable. A wrong merge corrupts compliance records.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9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Our 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0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One Pipeline.  One Identity.  Full Explainability.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21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CustomShape 5"/>
          <p:cNvSpPr/>
          <p:nvPr/>
        </p:nvSpPr>
        <p:spPr>
          <a:xfrm>
            <a:off x="274320" y="1600200"/>
            <a:ext cx="2011320" cy="1188360"/>
          </a:xfrm>
          <a:prstGeom prst="rect">
            <a:avLst/>
          </a:prstGeom>
          <a:solidFill>
            <a:srgbClr val="1c273a"/>
          </a:solidFill>
          <a:ln w="1908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3" name="CustomShape 6"/>
          <p:cNvSpPr/>
          <p:nvPr/>
        </p:nvSpPr>
        <p:spPr>
          <a:xfrm>
            <a:off x="365760" y="1691640"/>
            <a:ext cx="1828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LAND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4" name="CustomShape 7"/>
          <p:cNvSpPr/>
          <p:nvPr/>
        </p:nvSpPr>
        <p:spPr>
          <a:xfrm>
            <a:off x="365760" y="2148840"/>
            <a:ext cx="18284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Department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files arrive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CustomShape 8"/>
          <p:cNvSpPr/>
          <p:nvPr/>
        </p:nvSpPr>
        <p:spPr>
          <a:xfrm>
            <a:off x="2286000" y="1965960"/>
            <a:ext cx="3654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8b949e"/>
                </a:solidFill>
                <a:latin typeface="Calibri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6" name="CustomShape 9"/>
          <p:cNvSpPr/>
          <p:nvPr/>
        </p:nvSpPr>
        <p:spPr>
          <a:xfrm>
            <a:off x="2651760" y="1600200"/>
            <a:ext cx="2011320" cy="1188360"/>
          </a:xfrm>
          <a:prstGeom prst="rect">
            <a:avLst/>
          </a:prstGeom>
          <a:solidFill>
            <a:srgbClr val="1c273a"/>
          </a:solidFill>
          <a:ln w="1908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CustomShape 10"/>
          <p:cNvSpPr/>
          <p:nvPr/>
        </p:nvSpPr>
        <p:spPr>
          <a:xfrm>
            <a:off x="2743200" y="1691640"/>
            <a:ext cx="1828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INGEST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8" name="CustomShape 11"/>
          <p:cNvSpPr/>
          <p:nvPr/>
        </p:nvSpPr>
        <p:spPr>
          <a:xfrm>
            <a:off x="2743200" y="2148840"/>
            <a:ext cx="18284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Read &amp; parse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CSV records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9" name="CustomShape 12"/>
          <p:cNvSpPr/>
          <p:nvPr/>
        </p:nvSpPr>
        <p:spPr>
          <a:xfrm>
            <a:off x="4663440" y="1965960"/>
            <a:ext cx="3654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8b949e"/>
                </a:solidFill>
                <a:latin typeface="Calibri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0" name="CustomShape 13"/>
          <p:cNvSpPr/>
          <p:nvPr/>
        </p:nvSpPr>
        <p:spPr>
          <a:xfrm>
            <a:off x="5029200" y="1600200"/>
            <a:ext cx="2011320" cy="1188360"/>
          </a:xfrm>
          <a:prstGeom prst="rect">
            <a:avLst/>
          </a:prstGeom>
          <a:solidFill>
            <a:srgbClr val="1c273a"/>
          </a:solidFill>
          <a:ln w="1908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1" name="CustomShape 14"/>
          <p:cNvSpPr/>
          <p:nvPr/>
        </p:nvSpPr>
        <p:spPr>
          <a:xfrm>
            <a:off x="5120640" y="1691640"/>
            <a:ext cx="1828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f97116"/>
                </a:solidFill>
                <a:latin typeface="Calibri"/>
              </a:rPr>
              <a:t>MATCH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2" name="CustomShape 15"/>
          <p:cNvSpPr/>
          <p:nvPr/>
        </p:nvSpPr>
        <p:spPr>
          <a:xfrm>
            <a:off x="5120640" y="2148840"/>
            <a:ext cx="18284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Probabilistic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entity resolution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3" name="CustomShape 16"/>
          <p:cNvSpPr/>
          <p:nvPr/>
        </p:nvSpPr>
        <p:spPr>
          <a:xfrm>
            <a:off x="7040880" y="1965960"/>
            <a:ext cx="3654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8b949e"/>
                </a:solidFill>
                <a:latin typeface="Calibri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4" name="CustomShape 17"/>
          <p:cNvSpPr/>
          <p:nvPr/>
        </p:nvSpPr>
        <p:spPr>
          <a:xfrm>
            <a:off x="7406640" y="1600200"/>
            <a:ext cx="2011320" cy="1188360"/>
          </a:xfrm>
          <a:prstGeom prst="rect">
            <a:avLst/>
          </a:prstGeom>
          <a:solidFill>
            <a:srgbClr val="1c273a"/>
          </a:solidFill>
          <a:ln w="1908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5" name="CustomShape 18"/>
          <p:cNvSpPr/>
          <p:nvPr/>
        </p:nvSpPr>
        <p:spPr>
          <a:xfrm>
            <a:off x="7498080" y="1691640"/>
            <a:ext cx="1828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2dd4bf"/>
                </a:solidFill>
                <a:latin typeface="Calibri"/>
              </a:rPr>
              <a:t>ROUTE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6" name="CustomShape 19"/>
          <p:cNvSpPr/>
          <p:nvPr/>
        </p:nvSpPr>
        <p:spPr>
          <a:xfrm>
            <a:off x="7498080" y="2148840"/>
            <a:ext cx="18284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Auto-link or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send to review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7" name="CustomShape 20"/>
          <p:cNvSpPr/>
          <p:nvPr/>
        </p:nvSpPr>
        <p:spPr>
          <a:xfrm>
            <a:off x="9418320" y="1965960"/>
            <a:ext cx="365400" cy="42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200" spc="-1" strike="noStrike">
                <a:solidFill>
                  <a:srgbClr val="8b949e"/>
                </a:solidFill>
                <a:latin typeface="Calibri"/>
              </a:rPr>
              <a:t>→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8" name="CustomShape 21"/>
          <p:cNvSpPr/>
          <p:nvPr/>
        </p:nvSpPr>
        <p:spPr>
          <a:xfrm>
            <a:off x="9784080" y="1600200"/>
            <a:ext cx="2011320" cy="1188360"/>
          </a:xfrm>
          <a:prstGeom prst="rect">
            <a:avLst/>
          </a:prstGeom>
          <a:solidFill>
            <a:srgbClr val="1c273a"/>
          </a:solidFill>
          <a:ln w="19080">
            <a:solidFill>
              <a:srgbClr val="3fb95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CustomShape 22"/>
          <p:cNvSpPr/>
          <p:nvPr/>
        </p:nvSpPr>
        <p:spPr>
          <a:xfrm>
            <a:off x="9875520" y="1691640"/>
            <a:ext cx="182844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3fb950"/>
                </a:solidFill>
                <a:latin typeface="Calibri"/>
              </a:rPr>
              <a:t>REGISTRY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40" name="CustomShape 23"/>
          <p:cNvSpPr/>
          <p:nvPr/>
        </p:nvSpPr>
        <p:spPr>
          <a:xfrm>
            <a:off x="9875520" y="2148840"/>
            <a:ext cx="182844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UBID assigned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&amp; persisted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1" name="CustomShape 24"/>
          <p:cNvSpPr/>
          <p:nvPr/>
        </p:nvSpPr>
        <p:spPr>
          <a:xfrm>
            <a:off x="365760" y="3063240"/>
            <a:ext cx="11429640" cy="146268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2" name="CustomShape 25"/>
          <p:cNvSpPr/>
          <p:nvPr/>
        </p:nvSpPr>
        <p:spPr>
          <a:xfrm>
            <a:off x="365760" y="3063240"/>
            <a:ext cx="63720" cy="146268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CustomShape 26"/>
          <p:cNvSpPr/>
          <p:nvPr/>
        </p:nvSpPr>
        <p:spPr>
          <a:xfrm>
            <a:off x="594360" y="3227760"/>
            <a:ext cx="110638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38bdf8"/>
                </a:solidFill>
                <a:latin typeface="Calibri"/>
              </a:rPr>
              <a:t>Layer 1  —  UBID Assignment (Entity Resolution)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4" name="CustomShape 27"/>
          <p:cNvSpPr/>
          <p:nvPr/>
        </p:nvSpPr>
        <p:spPr>
          <a:xfrm>
            <a:off x="594360" y="3684960"/>
            <a:ext cx="110638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Reads records from all department CSVs, generates candidate pairs, scores them using weighted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multi-signal features, and assigns a single Unified Business ID to matched groups via Union-Find clustering.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5" name="CustomShape 28"/>
          <p:cNvSpPr/>
          <p:nvPr/>
        </p:nvSpPr>
        <p:spPr>
          <a:xfrm>
            <a:off x="365760" y="4709160"/>
            <a:ext cx="11429640" cy="146268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6" name="CustomShape 29"/>
          <p:cNvSpPr/>
          <p:nvPr/>
        </p:nvSpPr>
        <p:spPr>
          <a:xfrm>
            <a:off x="365760" y="4709160"/>
            <a:ext cx="63720" cy="146268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CustomShape 30"/>
          <p:cNvSpPr/>
          <p:nvPr/>
        </p:nvSpPr>
        <p:spPr>
          <a:xfrm>
            <a:off x="594360" y="4873680"/>
            <a:ext cx="110638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97116"/>
                </a:solidFill>
                <a:latin typeface="Calibri"/>
              </a:rPr>
              <a:t>Layer 2  —  Activity Intelligence  (Production Roadmap)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8" name="CustomShape 31"/>
          <p:cNvSpPr/>
          <p:nvPr/>
        </p:nvSpPr>
        <p:spPr>
          <a:xfrm>
            <a:off x="594360" y="5330880"/>
            <a:ext cx="110638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Streams transaction events per UBID via Kafka. Classifies each business as Active / Dormant / Closed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based on renewal events, inspections, utility consumption, and compliance filings.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0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Entity Resolution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Probabilistic Multi-Signal Matching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52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CustomShape 5"/>
          <p:cNvSpPr/>
          <p:nvPr/>
        </p:nvSpPr>
        <p:spPr>
          <a:xfrm>
            <a:off x="365760" y="1508760"/>
            <a:ext cx="2559960" cy="4842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4" name="CustomShape 6"/>
          <p:cNvSpPr/>
          <p:nvPr/>
        </p:nvSpPr>
        <p:spPr>
          <a:xfrm>
            <a:off x="457200" y="161856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Feature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5" name="CustomShape 7"/>
          <p:cNvSpPr/>
          <p:nvPr/>
        </p:nvSpPr>
        <p:spPr>
          <a:xfrm>
            <a:off x="2926080" y="1508760"/>
            <a:ext cx="914040" cy="4842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CustomShape 8"/>
          <p:cNvSpPr/>
          <p:nvPr/>
        </p:nvSpPr>
        <p:spPr>
          <a:xfrm>
            <a:off x="3017520" y="1618560"/>
            <a:ext cx="77688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Weight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7" name="CustomShape 9"/>
          <p:cNvSpPr/>
          <p:nvPr/>
        </p:nvSpPr>
        <p:spPr>
          <a:xfrm>
            <a:off x="3840480" y="1508760"/>
            <a:ext cx="3657240" cy="4842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CustomShape 10"/>
          <p:cNvSpPr/>
          <p:nvPr/>
        </p:nvSpPr>
        <p:spPr>
          <a:xfrm>
            <a:off x="3931920" y="161856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38bdf8"/>
                </a:solidFill>
                <a:latin typeface="Calibri"/>
              </a:rPr>
              <a:t>Algorithm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9" name="CustomShape 11"/>
          <p:cNvSpPr/>
          <p:nvPr/>
        </p:nvSpPr>
        <p:spPr>
          <a:xfrm>
            <a:off x="365760" y="2039040"/>
            <a:ext cx="255996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CustomShape 12"/>
          <p:cNvSpPr/>
          <p:nvPr/>
        </p:nvSpPr>
        <p:spPr>
          <a:xfrm>
            <a:off x="457200" y="213048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9d1d9"/>
                </a:solidFill>
                <a:latin typeface="Calibri"/>
              </a:rPr>
              <a:t>PAN / GSTIN Identifier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1" name="CustomShape 13"/>
          <p:cNvSpPr/>
          <p:nvPr/>
        </p:nvSpPr>
        <p:spPr>
          <a:xfrm>
            <a:off x="2926080" y="2039040"/>
            <a:ext cx="91404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CustomShape 14"/>
          <p:cNvSpPr/>
          <p:nvPr/>
        </p:nvSpPr>
        <p:spPr>
          <a:xfrm>
            <a:off x="3017520" y="2130480"/>
            <a:ext cx="776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97116"/>
                </a:solidFill>
                <a:latin typeface="Calibri"/>
              </a:rPr>
              <a:t>35%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3" name="CustomShape 15"/>
          <p:cNvSpPr/>
          <p:nvPr/>
        </p:nvSpPr>
        <p:spPr>
          <a:xfrm>
            <a:off x="3840480" y="2039040"/>
            <a:ext cx="365724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CustomShape 16"/>
          <p:cNvSpPr/>
          <p:nvPr/>
        </p:nvSpPr>
        <p:spPr>
          <a:xfrm>
            <a:off x="3931920" y="213048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Exact match  — primary anchor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5" name="CustomShape 17"/>
          <p:cNvSpPr/>
          <p:nvPr/>
        </p:nvSpPr>
        <p:spPr>
          <a:xfrm>
            <a:off x="365760" y="2569320"/>
            <a:ext cx="255996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CustomShape 18"/>
          <p:cNvSpPr/>
          <p:nvPr/>
        </p:nvSpPr>
        <p:spPr>
          <a:xfrm>
            <a:off x="457200" y="266076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9d1d9"/>
                </a:solidFill>
                <a:latin typeface="Calibri"/>
              </a:rPr>
              <a:t>Business Name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7" name="CustomShape 19"/>
          <p:cNvSpPr/>
          <p:nvPr/>
        </p:nvSpPr>
        <p:spPr>
          <a:xfrm>
            <a:off x="2926080" y="2569320"/>
            <a:ext cx="91404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8" name="CustomShape 20"/>
          <p:cNvSpPr/>
          <p:nvPr/>
        </p:nvSpPr>
        <p:spPr>
          <a:xfrm>
            <a:off x="3017520" y="2660760"/>
            <a:ext cx="776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97116"/>
                </a:solidFill>
                <a:latin typeface="Calibri"/>
              </a:rPr>
              <a:t>30%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69" name="CustomShape 21"/>
          <p:cNvSpPr/>
          <p:nvPr/>
        </p:nvSpPr>
        <p:spPr>
          <a:xfrm>
            <a:off x="3840480" y="2569320"/>
            <a:ext cx="365724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CustomShape 22"/>
          <p:cNvSpPr/>
          <p:nvPr/>
        </p:nvSpPr>
        <p:spPr>
          <a:xfrm>
            <a:off x="3931920" y="266076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Jaro-Winkler on normalised tokens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CustomShape 23"/>
          <p:cNvSpPr/>
          <p:nvPr/>
        </p:nvSpPr>
        <p:spPr>
          <a:xfrm>
            <a:off x="365760" y="3099960"/>
            <a:ext cx="255996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2" name="CustomShape 24"/>
          <p:cNvSpPr/>
          <p:nvPr/>
        </p:nvSpPr>
        <p:spPr>
          <a:xfrm>
            <a:off x="457200" y="319140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9d1d9"/>
                </a:solidFill>
                <a:latin typeface="Calibri"/>
              </a:rPr>
              <a:t>Address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3" name="CustomShape 25"/>
          <p:cNvSpPr/>
          <p:nvPr/>
        </p:nvSpPr>
        <p:spPr>
          <a:xfrm>
            <a:off x="2926080" y="3099960"/>
            <a:ext cx="91404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CustomShape 26"/>
          <p:cNvSpPr/>
          <p:nvPr/>
        </p:nvSpPr>
        <p:spPr>
          <a:xfrm>
            <a:off x="3017520" y="3191400"/>
            <a:ext cx="776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97116"/>
                </a:solidFill>
                <a:latin typeface="Calibri"/>
              </a:rPr>
              <a:t>15%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5" name="CustomShape 27"/>
          <p:cNvSpPr/>
          <p:nvPr/>
        </p:nvSpPr>
        <p:spPr>
          <a:xfrm>
            <a:off x="3840480" y="3099960"/>
            <a:ext cx="365724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CustomShape 28"/>
          <p:cNvSpPr/>
          <p:nvPr/>
        </p:nvSpPr>
        <p:spPr>
          <a:xfrm>
            <a:off x="3931920" y="319140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Token Jaccard similarity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7" name="CustomShape 29"/>
          <p:cNvSpPr/>
          <p:nvPr/>
        </p:nvSpPr>
        <p:spPr>
          <a:xfrm>
            <a:off x="365760" y="3630240"/>
            <a:ext cx="255996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CustomShape 30"/>
          <p:cNvSpPr/>
          <p:nvPr/>
        </p:nvSpPr>
        <p:spPr>
          <a:xfrm>
            <a:off x="457200" y="372168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9d1d9"/>
                </a:solidFill>
                <a:latin typeface="Calibri"/>
              </a:rPr>
              <a:t>Pin Code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9" name="CustomShape 31"/>
          <p:cNvSpPr/>
          <p:nvPr/>
        </p:nvSpPr>
        <p:spPr>
          <a:xfrm>
            <a:off x="2926080" y="3630240"/>
            <a:ext cx="91404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CustomShape 32"/>
          <p:cNvSpPr/>
          <p:nvPr/>
        </p:nvSpPr>
        <p:spPr>
          <a:xfrm>
            <a:off x="3017520" y="3721680"/>
            <a:ext cx="776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97116"/>
                </a:solidFill>
                <a:latin typeface="Calibri"/>
              </a:rPr>
              <a:t>10%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1" name="CustomShape 33"/>
          <p:cNvSpPr/>
          <p:nvPr/>
        </p:nvSpPr>
        <p:spPr>
          <a:xfrm>
            <a:off x="3840480" y="3630240"/>
            <a:ext cx="365724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CustomShape 34"/>
          <p:cNvSpPr/>
          <p:nvPr/>
        </p:nvSpPr>
        <p:spPr>
          <a:xfrm>
            <a:off x="3931920" y="372168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Exact match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3" name="CustomShape 35"/>
          <p:cNvSpPr/>
          <p:nvPr/>
        </p:nvSpPr>
        <p:spPr>
          <a:xfrm>
            <a:off x="365760" y="4160520"/>
            <a:ext cx="255996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CustomShape 36"/>
          <p:cNvSpPr/>
          <p:nvPr/>
        </p:nvSpPr>
        <p:spPr>
          <a:xfrm>
            <a:off x="457200" y="425196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9d1d9"/>
                </a:solidFill>
                <a:latin typeface="Calibri"/>
              </a:rPr>
              <a:t>Sector / Industry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5" name="CustomShape 37"/>
          <p:cNvSpPr/>
          <p:nvPr/>
        </p:nvSpPr>
        <p:spPr>
          <a:xfrm>
            <a:off x="2926080" y="4160520"/>
            <a:ext cx="91404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6" name="CustomShape 38"/>
          <p:cNvSpPr/>
          <p:nvPr/>
        </p:nvSpPr>
        <p:spPr>
          <a:xfrm>
            <a:off x="3017520" y="4251960"/>
            <a:ext cx="776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97116"/>
                </a:solidFill>
                <a:latin typeface="Calibri"/>
              </a:rPr>
              <a:t>5%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7" name="CustomShape 39"/>
          <p:cNvSpPr/>
          <p:nvPr/>
        </p:nvSpPr>
        <p:spPr>
          <a:xfrm>
            <a:off x="3840480" y="4160520"/>
            <a:ext cx="3657240" cy="50256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8" name="CustomShape 40"/>
          <p:cNvSpPr/>
          <p:nvPr/>
        </p:nvSpPr>
        <p:spPr>
          <a:xfrm>
            <a:off x="3931920" y="425196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Exact categorical match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9" name="CustomShape 41"/>
          <p:cNvSpPr/>
          <p:nvPr/>
        </p:nvSpPr>
        <p:spPr>
          <a:xfrm>
            <a:off x="365760" y="4690800"/>
            <a:ext cx="255996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0" name="CustomShape 42"/>
          <p:cNvSpPr/>
          <p:nvPr/>
        </p:nvSpPr>
        <p:spPr>
          <a:xfrm>
            <a:off x="457200" y="4782240"/>
            <a:ext cx="24228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c9d1d9"/>
                </a:solidFill>
                <a:latin typeface="Calibri"/>
              </a:rPr>
              <a:t>Phone Number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1" name="CustomShape 43"/>
          <p:cNvSpPr/>
          <p:nvPr/>
        </p:nvSpPr>
        <p:spPr>
          <a:xfrm>
            <a:off x="2926080" y="4690800"/>
            <a:ext cx="91404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CustomShape 44"/>
          <p:cNvSpPr/>
          <p:nvPr/>
        </p:nvSpPr>
        <p:spPr>
          <a:xfrm>
            <a:off x="3017520" y="4782240"/>
            <a:ext cx="7768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f97116"/>
                </a:solidFill>
                <a:latin typeface="Calibri"/>
              </a:rPr>
              <a:t>5%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3" name="CustomShape 45"/>
          <p:cNvSpPr/>
          <p:nvPr/>
        </p:nvSpPr>
        <p:spPr>
          <a:xfrm>
            <a:off x="3840480" y="4690800"/>
            <a:ext cx="3657240" cy="5025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4" name="CustomShape 46"/>
          <p:cNvSpPr/>
          <p:nvPr/>
        </p:nvSpPr>
        <p:spPr>
          <a:xfrm>
            <a:off x="3931920" y="4782240"/>
            <a:ext cx="35200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Levenshtein distance ≤ 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5" name="CustomShape 47"/>
          <p:cNvSpPr/>
          <p:nvPr/>
        </p:nvSpPr>
        <p:spPr>
          <a:xfrm>
            <a:off x="7498080" y="1508760"/>
            <a:ext cx="4297320" cy="1508400"/>
          </a:xfrm>
          <a:prstGeom prst="rect">
            <a:avLst/>
          </a:prstGeom>
          <a:solidFill>
            <a:srgbClr val="1c273a"/>
          </a:solidFill>
          <a:ln w="19080">
            <a:solidFill>
              <a:srgbClr val="3fb95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CustomShape 48"/>
          <p:cNvSpPr/>
          <p:nvPr/>
        </p:nvSpPr>
        <p:spPr>
          <a:xfrm>
            <a:off x="7680960" y="1618560"/>
            <a:ext cx="228564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3fb950"/>
                </a:solidFill>
                <a:latin typeface="Calibri"/>
              </a:rPr>
              <a:t>AUTO-LINK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97" name="CustomShape 49"/>
          <p:cNvSpPr/>
          <p:nvPr/>
        </p:nvSpPr>
        <p:spPr>
          <a:xfrm>
            <a:off x="10241280" y="1618560"/>
            <a:ext cx="13712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</a:rPr>
              <a:t>Score ≥ 0.85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8" name="CustomShape 50"/>
          <p:cNvSpPr/>
          <p:nvPr/>
        </p:nvSpPr>
        <p:spPr>
          <a:xfrm>
            <a:off x="7680960" y="2057400"/>
            <a:ext cx="39315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Automatically assigned shared UBID.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Evidence stored for audit. Reversible.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99" name="CustomShape 51"/>
          <p:cNvSpPr/>
          <p:nvPr/>
        </p:nvSpPr>
        <p:spPr>
          <a:xfrm>
            <a:off x="7498080" y="3173040"/>
            <a:ext cx="4297320" cy="1508400"/>
          </a:xfrm>
          <a:prstGeom prst="rect">
            <a:avLst/>
          </a:prstGeom>
          <a:solidFill>
            <a:srgbClr val="1c273a"/>
          </a:solidFill>
          <a:ln w="19080">
            <a:solidFill>
              <a:srgbClr val="d29b2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CustomShape 52"/>
          <p:cNvSpPr/>
          <p:nvPr/>
        </p:nvSpPr>
        <p:spPr>
          <a:xfrm>
            <a:off x="7680960" y="3282840"/>
            <a:ext cx="228564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d29b22"/>
                </a:solidFill>
                <a:latin typeface="Calibri"/>
              </a:rPr>
              <a:t>HUMAN REVIEW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1" name="CustomShape 53"/>
          <p:cNvSpPr/>
          <p:nvPr/>
        </p:nvSpPr>
        <p:spPr>
          <a:xfrm>
            <a:off x="10241280" y="3282840"/>
            <a:ext cx="137124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1300" spc="-1" strike="noStrike">
                <a:solidFill>
                  <a:srgbClr val="d29b22"/>
                </a:solidFill>
                <a:latin typeface="Calibri"/>
              </a:rPr>
              <a:t>Score 0.50 – 0.84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2" name="CustomShape 54"/>
          <p:cNvSpPr/>
          <p:nvPr/>
        </p:nvSpPr>
        <p:spPr>
          <a:xfrm>
            <a:off x="7680960" y="3721680"/>
            <a:ext cx="39315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Sent to reviewer queue.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No merge committed without human sign-off.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3" name="CustomShape 55"/>
          <p:cNvSpPr/>
          <p:nvPr/>
        </p:nvSpPr>
        <p:spPr>
          <a:xfrm>
            <a:off x="7498080" y="4837320"/>
            <a:ext cx="4297320" cy="1508400"/>
          </a:xfrm>
          <a:prstGeom prst="rect">
            <a:avLst/>
          </a:prstGeom>
          <a:solidFill>
            <a:srgbClr val="1c273a"/>
          </a:solidFill>
          <a:ln w="19080">
            <a:solidFill>
              <a:srgbClr val="f85149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4" name="CustomShape 56"/>
          <p:cNvSpPr/>
          <p:nvPr/>
        </p:nvSpPr>
        <p:spPr>
          <a:xfrm>
            <a:off x="7680960" y="4946760"/>
            <a:ext cx="228564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f85149"/>
                </a:solidFill>
                <a:latin typeface="Calibri"/>
              </a:rPr>
              <a:t>SEPARATE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05" name="CustomShape 57"/>
          <p:cNvSpPr/>
          <p:nvPr/>
        </p:nvSpPr>
        <p:spPr>
          <a:xfrm>
            <a:off x="10241280" y="4946760"/>
            <a:ext cx="13712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1300" spc="-1" strike="noStrike">
                <a:solidFill>
                  <a:srgbClr val="f85149"/>
                </a:solidFill>
                <a:latin typeface="Calibri"/>
              </a:rPr>
              <a:t>Score &lt; 0.50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6" name="CustomShape 58"/>
          <p:cNvSpPr/>
          <p:nvPr/>
        </p:nvSpPr>
        <p:spPr>
          <a:xfrm>
            <a:off x="7680960" y="5385960"/>
            <a:ext cx="39315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Records treated as different businesses.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Each gets its own independent UBID.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7" name="CustomShape 59"/>
          <p:cNvSpPr/>
          <p:nvPr/>
        </p:nvSpPr>
        <p:spPr>
          <a:xfrm>
            <a:off x="365760" y="6446520"/>
            <a:ext cx="114296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i="1" lang="en-US" sz="1200" spc="-1" strike="noStrike">
                <a:solidFill>
                  <a:srgbClr val="f97116"/>
                </a:solidFill>
                <a:latin typeface="Calibri"/>
              </a:rPr>
              <a:t>⚡  </a:t>
            </a:r>
            <a:r>
              <a:rPr b="0" i="1" lang="en-US" sz="1200" spc="-1" strike="noStrike">
                <a:solidFill>
                  <a:srgbClr val="f97116"/>
                </a:solidFill>
                <a:latin typeface="Calibri"/>
              </a:rPr>
              <a:t>PAN / GSTIN exact match overrides final score to ≥ 0.92 — strong regulatory anchor.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9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Human-in-the-Loop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0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Review Ambiguous Pairs.  Teach the Model.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11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2" name="CustomShape 5"/>
          <p:cNvSpPr/>
          <p:nvPr/>
        </p:nvSpPr>
        <p:spPr>
          <a:xfrm>
            <a:off x="365760" y="1554480"/>
            <a:ext cx="7497720" cy="3840120"/>
          </a:xfrm>
          <a:prstGeom prst="rect">
            <a:avLst/>
          </a:prstGeom>
          <a:solidFill>
            <a:srgbClr val="1c273a"/>
          </a:solidFill>
          <a:ln>
            <a:solidFill>
              <a:srgbClr val="1c273a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3" name="CustomShape 6"/>
          <p:cNvSpPr/>
          <p:nvPr/>
        </p:nvSpPr>
        <p:spPr>
          <a:xfrm>
            <a:off x="365760" y="1554480"/>
            <a:ext cx="2011320" cy="38401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CustomShape 7"/>
          <p:cNvSpPr/>
          <p:nvPr/>
        </p:nvSpPr>
        <p:spPr>
          <a:xfrm>
            <a:off x="457200" y="1645920"/>
            <a:ext cx="18284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8b949e"/>
                </a:solidFill>
                <a:latin typeface="Calibri"/>
              </a:rPr>
              <a:t>REVIEW QUEUE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5" name="CustomShape 8"/>
          <p:cNvSpPr/>
          <p:nvPr/>
        </p:nvSpPr>
        <p:spPr>
          <a:xfrm>
            <a:off x="438840" y="2103120"/>
            <a:ext cx="1865160" cy="914040"/>
          </a:xfrm>
          <a:prstGeom prst="rect">
            <a:avLst/>
          </a:prstGeom>
          <a:solidFill>
            <a:srgbClr val="1c273a"/>
          </a:solidFill>
          <a:ln w="12600">
            <a:solidFill>
              <a:srgbClr val="d29b2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CustomShape 9"/>
          <p:cNvSpPr/>
          <p:nvPr/>
        </p:nvSpPr>
        <p:spPr>
          <a:xfrm>
            <a:off x="530280" y="2176200"/>
            <a:ext cx="173700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d29b22"/>
                </a:solidFill>
                <a:latin typeface="Calibri"/>
              </a:rPr>
              <a:t>Bangalore Steel Works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CustomShape 10"/>
          <p:cNvSpPr/>
          <p:nvPr/>
        </p:nvSpPr>
        <p:spPr>
          <a:xfrm>
            <a:off x="530280" y="2496240"/>
            <a:ext cx="17370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vs B.S. Works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CustomShape 11"/>
          <p:cNvSpPr/>
          <p:nvPr/>
        </p:nvSpPr>
        <p:spPr>
          <a:xfrm>
            <a:off x="1828800" y="2176200"/>
            <a:ext cx="4568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1100" spc="-1" strike="noStrike">
                <a:solidFill>
                  <a:srgbClr val="d29b22"/>
                </a:solidFill>
                <a:latin typeface="Calibri"/>
              </a:rPr>
              <a:t>56%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CustomShape 12"/>
          <p:cNvSpPr/>
          <p:nvPr/>
        </p:nvSpPr>
        <p:spPr>
          <a:xfrm>
            <a:off x="438840" y="3154680"/>
            <a:ext cx="1865160" cy="914040"/>
          </a:xfrm>
          <a:prstGeom prst="rect">
            <a:avLst/>
          </a:prstGeom>
          <a:solidFill>
            <a:srgbClr val="161b22"/>
          </a:solidFill>
          <a:ln w="12600">
            <a:solidFill>
              <a:srgbClr val="8b949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CustomShape 13"/>
          <p:cNvSpPr/>
          <p:nvPr/>
        </p:nvSpPr>
        <p:spPr>
          <a:xfrm>
            <a:off x="530280" y="3227760"/>
            <a:ext cx="17370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9d1d9"/>
                </a:solidFill>
                <a:latin typeface="Calibri"/>
              </a:rPr>
              <a:t>Kumar Elec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CustomShape 14"/>
          <p:cNvSpPr/>
          <p:nvPr/>
        </p:nvSpPr>
        <p:spPr>
          <a:xfrm>
            <a:off x="530280" y="3547800"/>
            <a:ext cx="17370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vs Kumar Electronics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2" name="CustomShape 15"/>
          <p:cNvSpPr/>
          <p:nvPr/>
        </p:nvSpPr>
        <p:spPr>
          <a:xfrm>
            <a:off x="1828800" y="3227760"/>
            <a:ext cx="4568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1100" spc="-1" strike="noStrike">
                <a:solidFill>
                  <a:srgbClr val="8b949e"/>
                </a:solidFill>
                <a:latin typeface="Calibri"/>
              </a:rPr>
              <a:t>50%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3" name="CustomShape 16"/>
          <p:cNvSpPr/>
          <p:nvPr/>
        </p:nvSpPr>
        <p:spPr>
          <a:xfrm>
            <a:off x="438840" y="4206240"/>
            <a:ext cx="1865160" cy="914040"/>
          </a:xfrm>
          <a:prstGeom prst="rect">
            <a:avLst/>
          </a:prstGeom>
          <a:solidFill>
            <a:srgbClr val="161b22"/>
          </a:solidFill>
          <a:ln w="12600">
            <a:solidFill>
              <a:srgbClr val="8b949e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CustomShape 17"/>
          <p:cNvSpPr/>
          <p:nvPr/>
        </p:nvSpPr>
        <p:spPr>
          <a:xfrm>
            <a:off x="530280" y="4279320"/>
            <a:ext cx="17370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c9d1d9"/>
                </a:solidFill>
                <a:latin typeface="Calibri"/>
              </a:rPr>
              <a:t>City Bakery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5" name="CustomShape 18"/>
          <p:cNvSpPr/>
          <p:nvPr/>
        </p:nvSpPr>
        <p:spPr>
          <a:xfrm>
            <a:off x="530280" y="4599360"/>
            <a:ext cx="17370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vs City Bakery &amp; Co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CustomShape 19"/>
          <p:cNvSpPr/>
          <p:nvPr/>
        </p:nvSpPr>
        <p:spPr>
          <a:xfrm>
            <a:off x="1828800" y="4279320"/>
            <a:ext cx="4568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r">
              <a:lnSpc>
                <a:spcPct val="100000"/>
              </a:lnSpc>
            </a:pPr>
            <a:r>
              <a:rPr b="1" lang="en-US" sz="1100" spc="-1" strike="noStrike">
                <a:solidFill>
                  <a:srgbClr val="8b949e"/>
                </a:solidFill>
                <a:latin typeface="Calibri"/>
              </a:rPr>
              <a:t>52%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7" name="CustomShape 20"/>
          <p:cNvSpPr/>
          <p:nvPr/>
        </p:nvSpPr>
        <p:spPr>
          <a:xfrm>
            <a:off x="2468880" y="1645920"/>
            <a:ext cx="54860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8b949e"/>
                </a:solidFill>
                <a:latin typeface="Calibri"/>
              </a:rPr>
              <a:t>SIDE-BY-SIDE COMPARISON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8" name="CustomShape 21"/>
          <p:cNvSpPr/>
          <p:nvPr/>
        </p:nvSpPr>
        <p:spPr>
          <a:xfrm>
            <a:off x="2468880" y="2057400"/>
            <a:ext cx="11883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Business Name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9" name="CustomShape 22"/>
          <p:cNvSpPr/>
          <p:nvPr/>
        </p:nvSpPr>
        <p:spPr>
          <a:xfrm>
            <a:off x="3657600" y="20574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0" name="CustomShape 23"/>
          <p:cNvSpPr/>
          <p:nvPr/>
        </p:nvSpPr>
        <p:spPr>
          <a:xfrm>
            <a:off x="3703320" y="2103120"/>
            <a:ext cx="1645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Bangalore Steel Works Ltd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CustomShape 24"/>
          <p:cNvSpPr/>
          <p:nvPr/>
        </p:nvSpPr>
        <p:spPr>
          <a:xfrm>
            <a:off x="5486400" y="20574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CustomShape 25"/>
          <p:cNvSpPr/>
          <p:nvPr/>
        </p:nvSpPr>
        <p:spPr>
          <a:xfrm>
            <a:off x="5532120" y="2103120"/>
            <a:ext cx="16455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B.S. Works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3" name="CustomShape 26"/>
          <p:cNvSpPr/>
          <p:nvPr/>
        </p:nvSpPr>
        <p:spPr>
          <a:xfrm>
            <a:off x="7296840" y="2112120"/>
            <a:ext cx="548280" cy="228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4" name="CustomShape 27"/>
          <p:cNvSpPr/>
          <p:nvPr/>
        </p:nvSpPr>
        <p:spPr>
          <a:xfrm>
            <a:off x="7296840" y="2112120"/>
            <a:ext cx="339840" cy="228240"/>
          </a:xfrm>
          <a:prstGeom prst="rect">
            <a:avLst/>
          </a:prstGeom>
          <a:solidFill>
            <a:srgbClr val="d29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5" name="CustomShape 28"/>
          <p:cNvSpPr/>
          <p:nvPr/>
        </p:nvSpPr>
        <p:spPr>
          <a:xfrm>
            <a:off x="2468880" y="2743200"/>
            <a:ext cx="11883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Address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6" name="CustomShape 29"/>
          <p:cNvSpPr/>
          <p:nvPr/>
        </p:nvSpPr>
        <p:spPr>
          <a:xfrm>
            <a:off x="3657600" y="27432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CustomShape 30"/>
          <p:cNvSpPr/>
          <p:nvPr/>
        </p:nvSpPr>
        <p:spPr>
          <a:xfrm>
            <a:off x="3703320" y="2788920"/>
            <a:ext cx="1645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Plot 44 Peenya Industrial Area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8" name="CustomShape 31"/>
          <p:cNvSpPr/>
          <p:nvPr/>
        </p:nvSpPr>
        <p:spPr>
          <a:xfrm>
            <a:off x="5486400" y="27432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CustomShape 32"/>
          <p:cNvSpPr/>
          <p:nvPr/>
        </p:nvSpPr>
        <p:spPr>
          <a:xfrm>
            <a:off x="5532120" y="2788920"/>
            <a:ext cx="1645560" cy="394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Peenya Industrial Area Bangalore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0" name="CustomShape 33"/>
          <p:cNvSpPr/>
          <p:nvPr/>
        </p:nvSpPr>
        <p:spPr>
          <a:xfrm>
            <a:off x="7296840" y="2797920"/>
            <a:ext cx="548280" cy="228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CustomShape 34"/>
          <p:cNvSpPr/>
          <p:nvPr/>
        </p:nvSpPr>
        <p:spPr>
          <a:xfrm>
            <a:off x="7296840" y="2797920"/>
            <a:ext cx="389160" cy="228240"/>
          </a:xfrm>
          <a:prstGeom prst="rect">
            <a:avLst/>
          </a:prstGeom>
          <a:solidFill>
            <a:srgbClr val="d29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CustomShape 35"/>
          <p:cNvSpPr/>
          <p:nvPr/>
        </p:nvSpPr>
        <p:spPr>
          <a:xfrm>
            <a:off x="2468880" y="3429000"/>
            <a:ext cx="11883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Pin Code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3" name="CustomShape 36"/>
          <p:cNvSpPr/>
          <p:nvPr/>
        </p:nvSpPr>
        <p:spPr>
          <a:xfrm>
            <a:off x="3657600" y="34290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4" name="CustomShape 37"/>
          <p:cNvSpPr/>
          <p:nvPr/>
        </p:nvSpPr>
        <p:spPr>
          <a:xfrm>
            <a:off x="3703320" y="3474720"/>
            <a:ext cx="16455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560058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5" name="CustomShape 38"/>
          <p:cNvSpPr/>
          <p:nvPr/>
        </p:nvSpPr>
        <p:spPr>
          <a:xfrm>
            <a:off x="5486400" y="34290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6" name="CustomShape 39"/>
          <p:cNvSpPr/>
          <p:nvPr/>
        </p:nvSpPr>
        <p:spPr>
          <a:xfrm>
            <a:off x="5532120" y="3474720"/>
            <a:ext cx="16455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560058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7" name="CustomShape 40"/>
          <p:cNvSpPr/>
          <p:nvPr/>
        </p:nvSpPr>
        <p:spPr>
          <a:xfrm>
            <a:off x="7296840" y="3483720"/>
            <a:ext cx="548280" cy="228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CustomShape 41"/>
          <p:cNvSpPr/>
          <p:nvPr/>
        </p:nvSpPr>
        <p:spPr>
          <a:xfrm>
            <a:off x="7296840" y="3483720"/>
            <a:ext cx="548280" cy="2282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CustomShape 42"/>
          <p:cNvSpPr/>
          <p:nvPr/>
        </p:nvSpPr>
        <p:spPr>
          <a:xfrm>
            <a:off x="2468880" y="4114800"/>
            <a:ext cx="11883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8b949e"/>
                </a:solidFill>
                <a:latin typeface="Calibri"/>
              </a:rPr>
              <a:t>Sector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0" name="CustomShape 43"/>
          <p:cNvSpPr/>
          <p:nvPr/>
        </p:nvSpPr>
        <p:spPr>
          <a:xfrm>
            <a:off x="3657600" y="41148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CustomShape 44"/>
          <p:cNvSpPr/>
          <p:nvPr/>
        </p:nvSpPr>
        <p:spPr>
          <a:xfrm>
            <a:off x="3703320" y="4160520"/>
            <a:ext cx="16455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Manufacturing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2" name="CustomShape 45"/>
          <p:cNvSpPr/>
          <p:nvPr/>
        </p:nvSpPr>
        <p:spPr>
          <a:xfrm>
            <a:off x="5486400" y="4114800"/>
            <a:ext cx="1737000" cy="3470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CustomShape 46"/>
          <p:cNvSpPr/>
          <p:nvPr/>
        </p:nvSpPr>
        <p:spPr>
          <a:xfrm>
            <a:off x="5532120" y="4160520"/>
            <a:ext cx="16455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c9d1d9"/>
                </a:solidFill>
                <a:latin typeface="Calibri"/>
              </a:rPr>
              <a:t>Manufacturing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4" name="CustomShape 47"/>
          <p:cNvSpPr/>
          <p:nvPr/>
        </p:nvSpPr>
        <p:spPr>
          <a:xfrm>
            <a:off x="7296840" y="4169520"/>
            <a:ext cx="548280" cy="2282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5" name="CustomShape 48"/>
          <p:cNvSpPr/>
          <p:nvPr/>
        </p:nvSpPr>
        <p:spPr>
          <a:xfrm>
            <a:off x="7296840" y="4169520"/>
            <a:ext cx="548280" cy="2282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6" name="CustomShape 49"/>
          <p:cNvSpPr/>
          <p:nvPr/>
        </p:nvSpPr>
        <p:spPr>
          <a:xfrm>
            <a:off x="2560320" y="4800600"/>
            <a:ext cx="2468520" cy="4752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CustomShape 50"/>
          <p:cNvSpPr/>
          <p:nvPr/>
        </p:nvSpPr>
        <p:spPr>
          <a:xfrm>
            <a:off x="2743200" y="4873680"/>
            <a:ext cx="21942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Same Business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8" name="CustomShape 51"/>
          <p:cNvSpPr/>
          <p:nvPr/>
        </p:nvSpPr>
        <p:spPr>
          <a:xfrm>
            <a:off x="5303520" y="4800600"/>
            <a:ext cx="2468520" cy="475200"/>
          </a:xfrm>
          <a:prstGeom prst="rect">
            <a:avLst/>
          </a:prstGeom>
          <a:solidFill>
            <a:srgbClr val="f85149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9" name="CustomShape 52"/>
          <p:cNvSpPr/>
          <p:nvPr/>
        </p:nvSpPr>
        <p:spPr>
          <a:xfrm>
            <a:off x="5394960" y="4873680"/>
            <a:ext cx="21942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✗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Different Business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0" name="CustomShape 53"/>
          <p:cNvSpPr/>
          <p:nvPr/>
        </p:nvSpPr>
        <p:spPr>
          <a:xfrm>
            <a:off x="8138160" y="1554480"/>
            <a:ext cx="3657240" cy="3840120"/>
          </a:xfrm>
          <a:prstGeom prst="rect">
            <a:avLst/>
          </a:prstGeom>
          <a:solidFill>
            <a:srgbClr val="1c273a"/>
          </a:solidFill>
          <a:ln w="1908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1" name="CustomShape 54"/>
          <p:cNvSpPr/>
          <p:nvPr/>
        </p:nvSpPr>
        <p:spPr>
          <a:xfrm>
            <a:off x="8321040" y="1691640"/>
            <a:ext cx="329148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dd4bf"/>
                </a:solidFill>
                <a:latin typeface="Calibri"/>
              </a:rPr>
              <a:t>Active Learning Loop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2" name="CustomShape 55"/>
          <p:cNvSpPr/>
          <p:nvPr/>
        </p:nvSpPr>
        <p:spPr>
          <a:xfrm>
            <a:off x="8275320" y="2240280"/>
            <a:ext cx="3382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1.  Reviewer confirms match or non-match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3" name="CustomShape 56"/>
          <p:cNvSpPr/>
          <p:nvPr/>
        </p:nvSpPr>
        <p:spPr>
          <a:xfrm>
            <a:off x="8275320" y="2834640"/>
            <a:ext cx="3382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2.  Decision stored as labelled training pair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4" name="CustomShape 57"/>
          <p:cNvSpPr/>
          <p:nvPr/>
        </p:nvSpPr>
        <p:spPr>
          <a:xfrm>
            <a:off x="8275320" y="3429000"/>
            <a:ext cx="3382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3.  Feature weights updated via gradient step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5" name="CustomShape 58"/>
          <p:cNvSpPr/>
          <p:nvPr/>
        </p:nvSpPr>
        <p:spPr>
          <a:xfrm>
            <a:off x="8275320" y="4023360"/>
            <a:ext cx="3382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4.  Next batch benefits from improved model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6" name="CustomShape 59"/>
          <p:cNvSpPr/>
          <p:nvPr/>
        </p:nvSpPr>
        <p:spPr>
          <a:xfrm>
            <a:off x="8275320" y="4617720"/>
            <a:ext cx="338292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5.  Review queue shrinks over time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67" name="CustomShape 60"/>
          <p:cNvSpPr/>
          <p:nvPr/>
        </p:nvSpPr>
        <p:spPr>
          <a:xfrm>
            <a:off x="8321040" y="4572000"/>
            <a:ext cx="329148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i="1" lang="en-US" sz="1100" spc="-1" strike="noStrike">
                <a:solidFill>
                  <a:srgbClr val="8b949e"/>
                </a:solidFill>
                <a:latin typeface="Calibri"/>
              </a:rPr>
              <a:t>Model weights persist across batches.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i="1" lang="en-US" sz="1100" spc="-1" strike="noStrike">
                <a:solidFill>
                  <a:srgbClr val="8b949e"/>
                </a:solidFill>
                <a:latin typeface="Calibri"/>
              </a:rPr>
              <a:t>Feedback count shown on dashboard.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Architecture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0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PoC  vs  Production-Ready Architecture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71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2" name="CustomShape 5"/>
          <p:cNvSpPr/>
          <p:nvPr/>
        </p:nvSpPr>
        <p:spPr>
          <a:xfrm>
            <a:off x="365760" y="1463040"/>
            <a:ext cx="5440320" cy="512028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CustomShape 6"/>
          <p:cNvSpPr/>
          <p:nvPr/>
        </p:nvSpPr>
        <p:spPr>
          <a:xfrm>
            <a:off x="365760" y="1463040"/>
            <a:ext cx="5440320" cy="4568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4" name="CustomShape 7"/>
          <p:cNvSpPr/>
          <p:nvPr/>
        </p:nvSpPr>
        <p:spPr>
          <a:xfrm>
            <a:off x="548640" y="1508760"/>
            <a:ext cx="51202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38bdf8"/>
                </a:solidFill>
                <a:latin typeface="Calibri"/>
              </a:rPr>
              <a:t>PoC — This Demo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75" name="CustomShape 8"/>
          <p:cNvSpPr/>
          <p:nvPr/>
        </p:nvSpPr>
        <p:spPr>
          <a:xfrm>
            <a:off x="548640" y="205740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Runtime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CustomShape 9"/>
          <p:cNvSpPr/>
          <p:nvPr/>
        </p:nvSpPr>
        <p:spPr>
          <a:xfrm>
            <a:off x="1874520" y="205740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Java 17  —  zero external dependencies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7" name="CustomShape 10"/>
          <p:cNvSpPr/>
          <p:nvPr/>
        </p:nvSpPr>
        <p:spPr>
          <a:xfrm>
            <a:off x="548640" y="260604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Frontend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CustomShape 11"/>
          <p:cNvSpPr/>
          <p:nvPr/>
        </p:nvSpPr>
        <p:spPr>
          <a:xfrm>
            <a:off x="1874520" y="260604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Plain HTML + CSS + JavaScript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9" name="CustomShape 12"/>
          <p:cNvSpPr/>
          <p:nvPr/>
        </p:nvSpPr>
        <p:spPr>
          <a:xfrm>
            <a:off x="548640" y="315468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Storage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0" name="CustomShape 13"/>
          <p:cNvSpPr/>
          <p:nvPr/>
        </p:nvSpPr>
        <p:spPr>
          <a:xfrm>
            <a:off x="1874520" y="315468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Local filesystem  (JSONL + Properties files)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1" name="CustomShape 14"/>
          <p:cNvSpPr/>
          <p:nvPr/>
        </p:nvSpPr>
        <p:spPr>
          <a:xfrm>
            <a:off x="548640" y="370332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Matching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2" name="CustomShape 15"/>
          <p:cNvSpPr/>
          <p:nvPr/>
        </p:nvSpPr>
        <p:spPr>
          <a:xfrm>
            <a:off x="1874520" y="370332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Custom Jaro-Winkler + Jaccard + weighted scoring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3" name="CustomShape 16"/>
          <p:cNvSpPr/>
          <p:nvPr/>
        </p:nvSpPr>
        <p:spPr>
          <a:xfrm>
            <a:off x="548640" y="425196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Clustering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4" name="CustomShape 17"/>
          <p:cNvSpPr/>
          <p:nvPr/>
        </p:nvSpPr>
        <p:spPr>
          <a:xfrm>
            <a:off x="1874520" y="425196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In-memory Union-Find algorithm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5" name="CustomShape 18"/>
          <p:cNvSpPr/>
          <p:nvPr/>
        </p:nvSpPr>
        <p:spPr>
          <a:xfrm>
            <a:off x="548640" y="480060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Model update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6" name="CustomShape 19"/>
          <p:cNvSpPr/>
          <p:nvPr/>
        </p:nvSpPr>
        <p:spPr>
          <a:xfrm>
            <a:off x="1874520" y="480060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Gradient weight adjustment per reviewer decision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7" name="CustomShape 20"/>
          <p:cNvSpPr/>
          <p:nvPr/>
        </p:nvSpPr>
        <p:spPr>
          <a:xfrm>
            <a:off x="548640" y="534924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Deploy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8" name="CustomShape 21"/>
          <p:cNvSpPr/>
          <p:nvPr/>
        </p:nvSpPr>
        <p:spPr>
          <a:xfrm>
            <a:off x="1874520" y="534924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Single JAR  —  runs anywhere with Java 17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89" name="CustomShape 22"/>
          <p:cNvSpPr/>
          <p:nvPr/>
        </p:nvSpPr>
        <p:spPr>
          <a:xfrm>
            <a:off x="548640" y="5897880"/>
            <a:ext cx="1279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38bdf8"/>
                </a:solidFill>
                <a:latin typeface="Calibri"/>
              </a:rPr>
              <a:t>Purpose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0" name="CustomShape 23"/>
          <p:cNvSpPr/>
          <p:nvPr/>
        </p:nvSpPr>
        <p:spPr>
          <a:xfrm>
            <a:off x="1874520" y="5897880"/>
            <a:ext cx="4114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Demo core idea end-to-end in &lt; 1 hour setup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1" name="CustomShape 24"/>
          <p:cNvSpPr/>
          <p:nvPr/>
        </p:nvSpPr>
        <p:spPr>
          <a:xfrm>
            <a:off x="6217920" y="1463040"/>
            <a:ext cx="5577480" cy="512028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2" name="CustomShape 25"/>
          <p:cNvSpPr/>
          <p:nvPr/>
        </p:nvSpPr>
        <p:spPr>
          <a:xfrm>
            <a:off x="6217920" y="1463040"/>
            <a:ext cx="5577480" cy="4568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3" name="CustomShape 26"/>
          <p:cNvSpPr/>
          <p:nvPr/>
        </p:nvSpPr>
        <p:spPr>
          <a:xfrm>
            <a:off x="6400800" y="1508760"/>
            <a:ext cx="530316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f97116"/>
                </a:solidFill>
                <a:latin typeface="Calibri"/>
              </a:rPr>
              <a:t>Production-Ready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94" name="CustomShape 27"/>
          <p:cNvSpPr/>
          <p:nvPr/>
        </p:nvSpPr>
        <p:spPr>
          <a:xfrm>
            <a:off x="6400800" y="205740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Entity Resolution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5" name="CustomShape 28"/>
          <p:cNvSpPr/>
          <p:nvPr/>
        </p:nvSpPr>
        <p:spPr>
          <a:xfrm>
            <a:off x="8046720" y="205740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Splink v3  —  Fellegi-Sunter, calibrated probabilities, full evidence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6" name="CustomShape 29"/>
          <p:cNvSpPr/>
          <p:nvPr/>
        </p:nvSpPr>
        <p:spPr>
          <a:xfrm>
            <a:off x="6400800" y="2606040"/>
            <a:ext cx="15998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Distributed Compute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7" name="CustomShape 30"/>
          <p:cNvSpPr/>
          <p:nvPr/>
        </p:nvSpPr>
        <p:spPr>
          <a:xfrm>
            <a:off x="8046720" y="260604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Apache Spark 3.x  —  scales to millions of records across departments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8" name="CustomShape 31"/>
          <p:cNvSpPr/>
          <p:nvPr/>
        </p:nvSpPr>
        <p:spPr>
          <a:xfrm>
            <a:off x="6400800" y="315468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Event Streaming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9" name="CustomShape 32"/>
          <p:cNvSpPr/>
          <p:nvPr/>
        </p:nvSpPr>
        <p:spPr>
          <a:xfrm>
            <a:off x="8046720" y="315468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Apache Kafka + Kafka Streams  —  near-real-time activity events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0" name="CustomShape 33"/>
          <p:cNvSpPr/>
          <p:nvPr/>
        </p:nvSpPr>
        <p:spPr>
          <a:xfrm>
            <a:off x="6400800" y="370332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Data Registry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1" name="CustomShape 34"/>
          <p:cNvSpPr/>
          <p:nvPr/>
        </p:nvSpPr>
        <p:spPr>
          <a:xfrm>
            <a:off x="8046720" y="370332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Apache Iceberg  —  ACID, time-travel, schema evolution, snapshot rollback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2" name="CustomShape 35"/>
          <p:cNvSpPr/>
          <p:nvPr/>
        </p:nvSpPr>
        <p:spPr>
          <a:xfrm>
            <a:off x="6400800" y="425196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Analytics Layer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3" name="CustomShape 36"/>
          <p:cNvSpPr/>
          <p:nvPr/>
        </p:nvSpPr>
        <p:spPr>
          <a:xfrm>
            <a:off x="8046720" y="425196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Trino  —  distributed SQL over Iceberg, sub-5s analytical queries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4" name="CustomShape 37"/>
          <p:cNvSpPr/>
          <p:nvPr/>
        </p:nvSpPr>
        <p:spPr>
          <a:xfrm>
            <a:off x="6400800" y="480060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Frontend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5" name="CustomShape 38"/>
          <p:cNvSpPr/>
          <p:nvPr/>
        </p:nvSpPr>
        <p:spPr>
          <a:xfrm>
            <a:off x="8046720" y="480060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React  —  stateless, horizontally scalable reviewer interface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6" name="CustomShape 39"/>
          <p:cNvSpPr/>
          <p:nvPr/>
        </p:nvSpPr>
        <p:spPr>
          <a:xfrm>
            <a:off x="6400800" y="534924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PII Safety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7" name="CustomShape 40"/>
          <p:cNvSpPr/>
          <p:nvPr/>
        </p:nvSpPr>
        <p:spPr>
          <a:xfrm>
            <a:off x="8046720" y="534924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Format-preserving encryption (AES-FF1) on PAN/GSTIN before matching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8" name="CustomShape 41"/>
          <p:cNvSpPr/>
          <p:nvPr/>
        </p:nvSpPr>
        <p:spPr>
          <a:xfrm>
            <a:off x="6400800" y="5897880"/>
            <a:ext cx="15998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f97116"/>
                </a:solidFill>
                <a:latin typeface="Calibri"/>
              </a:rPr>
              <a:t>Active Learning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09" name="CustomShape 42"/>
          <p:cNvSpPr/>
          <p:nvPr/>
        </p:nvSpPr>
        <p:spPr>
          <a:xfrm>
            <a:off x="8046720" y="5897880"/>
            <a:ext cx="3657240" cy="4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Splink EM re-estimation on labelled reviewer decisions weekly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10" name="CustomShape 43"/>
          <p:cNvSpPr/>
          <p:nvPr/>
        </p:nvSpPr>
        <p:spPr>
          <a:xfrm>
            <a:off x="365760" y="6583680"/>
            <a:ext cx="11429640" cy="16416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1" name="CustomShape 44"/>
          <p:cNvSpPr/>
          <p:nvPr/>
        </p:nvSpPr>
        <p:spPr>
          <a:xfrm>
            <a:off x="502920" y="6602040"/>
            <a:ext cx="11155320" cy="409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i="1" lang="en-US" sz="1050" spc="-1" strike="noStrike">
                <a:solidFill>
                  <a:srgbClr val="8b949e"/>
                </a:solidFill>
                <a:latin typeface="Calibri"/>
              </a:rPr>
              <a:t>The PoC and production system are architecturally identical — same pipeline logic, same decision zones, same API contracts.  Swapping the implementation layer (Java → Spark/Splink) requires no changes to the pipeline state machine or the reviewer interface.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3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Live Demo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4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What You Will See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15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6" name="CustomShape 5"/>
          <p:cNvSpPr/>
          <p:nvPr/>
        </p:nvSpPr>
        <p:spPr>
          <a:xfrm>
            <a:off x="365760" y="1554480"/>
            <a:ext cx="3748680" cy="1919880"/>
          </a:xfrm>
          <a:prstGeom prst="rect">
            <a:avLst/>
          </a:prstGeom>
          <a:solidFill>
            <a:srgbClr val="1c273a"/>
          </a:solidFill>
          <a:ln w="15120">
            <a:solidFill>
              <a:srgbClr val="3fb95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7" name="CustomShape 6"/>
          <p:cNvSpPr/>
          <p:nvPr/>
        </p:nvSpPr>
        <p:spPr>
          <a:xfrm>
            <a:off x="365760" y="1554480"/>
            <a:ext cx="411120" cy="41112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8" name="CustomShape 7"/>
          <p:cNvSpPr/>
          <p:nvPr/>
        </p:nvSpPr>
        <p:spPr>
          <a:xfrm>
            <a:off x="365760" y="1554480"/>
            <a:ext cx="41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19" name="CustomShape 8"/>
          <p:cNvSpPr/>
          <p:nvPr/>
        </p:nvSpPr>
        <p:spPr>
          <a:xfrm>
            <a:off x="868680" y="1645920"/>
            <a:ext cx="31543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</a:rPr>
              <a:t>Pipeline starts  —  IDLE state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0" name="CustomShape 9"/>
          <p:cNvSpPr/>
          <p:nvPr/>
        </p:nvSpPr>
        <p:spPr>
          <a:xfrm>
            <a:off x="502920" y="2148840"/>
            <a:ext cx="352008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Server running. Dashboard shows pipeline waiting at idle.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No files in landing area yet.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1" name="CustomShape 10"/>
          <p:cNvSpPr/>
          <p:nvPr/>
        </p:nvSpPr>
        <p:spPr>
          <a:xfrm>
            <a:off x="4297680" y="1554480"/>
            <a:ext cx="3748680" cy="1919880"/>
          </a:xfrm>
          <a:prstGeom prst="rect">
            <a:avLst/>
          </a:prstGeom>
          <a:solidFill>
            <a:srgbClr val="1c273a"/>
          </a:solidFill>
          <a:ln w="1512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2" name="CustomShape 11"/>
          <p:cNvSpPr/>
          <p:nvPr/>
        </p:nvSpPr>
        <p:spPr>
          <a:xfrm>
            <a:off x="4297680" y="1554480"/>
            <a:ext cx="411120" cy="4111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CustomShape 12"/>
          <p:cNvSpPr/>
          <p:nvPr/>
        </p:nvSpPr>
        <p:spPr>
          <a:xfrm>
            <a:off x="4297680" y="1554480"/>
            <a:ext cx="41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4" name="CustomShape 13"/>
          <p:cNvSpPr/>
          <p:nvPr/>
        </p:nvSpPr>
        <p:spPr>
          <a:xfrm>
            <a:off x="4800600" y="1645920"/>
            <a:ext cx="31543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Drop department files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5" name="CustomShape 14"/>
          <p:cNvSpPr/>
          <p:nvPr/>
        </p:nvSpPr>
        <p:spPr>
          <a:xfrm>
            <a:off x="4434840" y="2148840"/>
            <a:ext cx="352008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cp sample-data/* landing/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Confirmation file triggers the pipeline immediately.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6" name="CustomShape 15"/>
          <p:cNvSpPr/>
          <p:nvPr/>
        </p:nvSpPr>
        <p:spPr>
          <a:xfrm>
            <a:off x="8229600" y="1554480"/>
            <a:ext cx="3748680" cy="1919880"/>
          </a:xfrm>
          <a:prstGeom prst="rect">
            <a:avLst/>
          </a:prstGeom>
          <a:solidFill>
            <a:srgbClr val="1c273a"/>
          </a:solidFill>
          <a:ln w="1512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7" name="CustomShape 16"/>
          <p:cNvSpPr/>
          <p:nvPr/>
        </p:nvSpPr>
        <p:spPr>
          <a:xfrm>
            <a:off x="8229600" y="1554480"/>
            <a:ext cx="411120" cy="41112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8" name="CustomShape 17"/>
          <p:cNvSpPr/>
          <p:nvPr/>
        </p:nvSpPr>
        <p:spPr>
          <a:xfrm>
            <a:off x="8229600" y="1554480"/>
            <a:ext cx="41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29" name="CustomShape 18"/>
          <p:cNvSpPr/>
          <p:nvPr/>
        </p:nvSpPr>
        <p:spPr>
          <a:xfrm>
            <a:off x="8732520" y="1645920"/>
            <a:ext cx="31543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97116"/>
                </a:solidFill>
                <a:latin typeface="Calibri"/>
              </a:rPr>
              <a:t>Watch pipeline progress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0" name="CustomShape 19"/>
          <p:cNvSpPr/>
          <p:nvPr/>
        </p:nvSpPr>
        <p:spPr>
          <a:xfrm>
            <a:off x="8366760" y="2148840"/>
            <a:ext cx="352008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Dashboard auto-refreshes every 2 seconds.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States: DETECTING → INGESTING → MATCHING → WRITING → COMPLETE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1" name="CustomShape 20"/>
          <p:cNvSpPr/>
          <p:nvPr/>
        </p:nvSpPr>
        <p:spPr>
          <a:xfrm>
            <a:off x="365760" y="3657600"/>
            <a:ext cx="3748680" cy="1919880"/>
          </a:xfrm>
          <a:prstGeom prst="rect">
            <a:avLst/>
          </a:prstGeom>
          <a:solidFill>
            <a:srgbClr val="1c273a"/>
          </a:solidFill>
          <a:ln w="1512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2" name="CustomShape 21"/>
          <p:cNvSpPr/>
          <p:nvPr/>
        </p:nvSpPr>
        <p:spPr>
          <a:xfrm>
            <a:off x="365760" y="3657600"/>
            <a:ext cx="411120" cy="41112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3" name="CustomShape 22"/>
          <p:cNvSpPr/>
          <p:nvPr/>
        </p:nvSpPr>
        <p:spPr>
          <a:xfrm>
            <a:off x="365760" y="3657600"/>
            <a:ext cx="41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4" name="CustomShape 23"/>
          <p:cNvSpPr/>
          <p:nvPr/>
        </p:nvSpPr>
        <p:spPr>
          <a:xfrm>
            <a:off x="868680" y="3749040"/>
            <a:ext cx="315432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</a:rPr>
              <a:t>Results: auto-linked + review queue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5" name="CustomShape 24"/>
          <p:cNvSpPr/>
          <p:nvPr/>
        </p:nvSpPr>
        <p:spPr>
          <a:xfrm>
            <a:off x="502920" y="4251960"/>
            <a:ext cx="352008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13 records auto-linked into 5 UBID groups (Infosys across all 4 depts).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3 ambiguous pairs sent to human review queue.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36" name="CustomShape 25"/>
          <p:cNvSpPr/>
          <p:nvPr/>
        </p:nvSpPr>
        <p:spPr>
          <a:xfrm>
            <a:off x="4297680" y="3657600"/>
            <a:ext cx="3748680" cy="1919880"/>
          </a:xfrm>
          <a:prstGeom prst="rect">
            <a:avLst/>
          </a:prstGeom>
          <a:solidFill>
            <a:srgbClr val="1c273a"/>
          </a:solidFill>
          <a:ln w="15120">
            <a:solidFill>
              <a:srgbClr val="d29b22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7" name="CustomShape 26"/>
          <p:cNvSpPr/>
          <p:nvPr/>
        </p:nvSpPr>
        <p:spPr>
          <a:xfrm>
            <a:off x="4297680" y="3657600"/>
            <a:ext cx="411120" cy="411120"/>
          </a:xfrm>
          <a:prstGeom prst="rect">
            <a:avLst/>
          </a:prstGeom>
          <a:solidFill>
            <a:srgbClr val="d29b2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38" name="CustomShape 27"/>
          <p:cNvSpPr/>
          <p:nvPr/>
        </p:nvSpPr>
        <p:spPr>
          <a:xfrm>
            <a:off x="4297680" y="3657600"/>
            <a:ext cx="41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39" name="CustomShape 28"/>
          <p:cNvSpPr/>
          <p:nvPr/>
        </p:nvSpPr>
        <p:spPr>
          <a:xfrm>
            <a:off x="4800600" y="3749040"/>
            <a:ext cx="315432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d29b22"/>
                </a:solidFill>
                <a:latin typeface="Calibri"/>
              </a:rPr>
              <a:t>Human review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0" name="CustomShape 29"/>
          <p:cNvSpPr/>
          <p:nvPr/>
        </p:nvSpPr>
        <p:spPr>
          <a:xfrm>
            <a:off x="4434840" y="4251960"/>
            <a:ext cx="352008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Reviewer UI shows side-by-side comparison with feature scores.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Submit decisions → UBIDs written, model weights updated.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1" name="CustomShape 30"/>
          <p:cNvSpPr/>
          <p:nvPr/>
        </p:nvSpPr>
        <p:spPr>
          <a:xfrm>
            <a:off x="8229600" y="3657600"/>
            <a:ext cx="3748680" cy="1919880"/>
          </a:xfrm>
          <a:prstGeom prst="rect">
            <a:avLst/>
          </a:prstGeom>
          <a:solidFill>
            <a:srgbClr val="1c273a"/>
          </a:solidFill>
          <a:ln w="15120">
            <a:solidFill>
              <a:srgbClr val="3fb95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2" name="CustomShape 31"/>
          <p:cNvSpPr/>
          <p:nvPr/>
        </p:nvSpPr>
        <p:spPr>
          <a:xfrm>
            <a:off x="8229600" y="3657600"/>
            <a:ext cx="411120" cy="41112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3" name="CustomShape 32"/>
          <p:cNvSpPr/>
          <p:nvPr/>
        </p:nvSpPr>
        <p:spPr>
          <a:xfrm>
            <a:off x="8229600" y="3657600"/>
            <a:ext cx="411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44" name="CustomShape 33"/>
          <p:cNvSpPr/>
          <p:nvPr/>
        </p:nvSpPr>
        <p:spPr>
          <a:xfrm>
            <a:off x="8732520" y="3749040"/>
            <a:ext cx="315432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</a:rPr>
              <a:t>Second batch  —  improved model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5" name="CustomShape 34"/>
          <p:cNvSpPr/>
          <p:nvPr/>
        </p:nvSpPr>
        <p:spPr>
          <a:xfrm>
            <a:off x="8366760" y="4251960"/>
            <a:ext cx="352008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Drop files again. Model now benefits from reviewer feedback.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Feedback count increments. Weight shifts visible on dashboard.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46" name="CustomShape 35"/>
          <p:cNvSpPr/>
          <p:nvPr/>
        </p:nvSpPr>
        <p:spPr>
          <a:xfrm>
            <a:off x="365760" y="6492240"/>
            <a:ext cx="114296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US" sz="1200" spc="-1" strike="noStrike">
                <a:solidFill>
                  <a:srgbClr val="8b949e"/>
                </a:solidFill>
                <a:latin typeface="Calibri"/>
              </a:rPr>
              <a:t>21 records  ·  4 departments  ·  5 auto-linked UBID groups  ·  3 review pairs  ·  Zero external dependencies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8" name="CustomShape 2"/>
          <p:cNvSpPr/>
          <p:nvPr/>
        </p:nvSpPr>
        <p:spPr>
          <a:xfrm>
            <a:off x="365760" y="1828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Impact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49" name="CustomShape 3"/>
          <p:cNvSpPr/>
          <p:nvPr/>
        </p:nvSpPr>
        <p:spPr>
          <a:xfrm>
            <a:off x="365760" y="594360"/>
            <a:ext cx="114296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One UBID.  Infinite Possibilities.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50" name="CustomShape 4"/>
          <p:cNvSpPr/>
          <p:nvPr/>
        </p:nvSpPr>
        <p:spPr>
          <a:xfrm>
            <a:off x="365760" y="1325880"/>
            <a:ext cx="11429640" cy="3636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1" name="CustomShape 5"/>
          <p:cNvSpPr/>
          <p:nvPr/>
        </p:nvSpPr>
        <p:spPr>
          <a:xfrm>
            <a:off x="365760" y="1508760"/>
            <a:ext cx="2605680" cy="1416960"/>
          </a:xfrm>
          <a:prstGeom prst="rect">
            <a:avLst/>
          </a:prstGeom>
          <a:solidFill>
            <a:srgbClr val="1c273a"/>
          </a:solidFill>
          <a:ln w="1908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2" name="CustomShape 6"/>
          <p:cNvSpPr/>
          <p:nvPr/>
        </p:nvSpPr>
        <p:spPr>
          <a:xfrm>
            <a:off x="502920" y="1600200"/>
            <a:ext cx="23313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800" spc="-1" strike="noStrike">
                <a:solidFill>
                  <a:srgbClr val="38bdf8"/>
                </a:solidFill>
                <a:latin typeface="Calibri"/>
              </a:rPr>
              <a:t>40+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53" name="CustomShape 7"/>
          <p:cNvSpPr/>
          <p:nvPr/>
        </p:nvSpPr>
        <p:spPr>
          <a:xfrm>
            <a:off x="502920" y="2286000"/>
            <a:ext cx="23313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Department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systems unified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4" name="CustomShape 8"/>
          <p:cNvSpPr/>
          <p:nvPr/>
        </p:nvSpPr>
        <p:spPr>
          <a:xfrm>
            <a:off x="3200400" y="1508760"/>
            <a:ext cx="2605680" cy="1416960"/>
          </a:xfrm>
          <a:prstGeom prst="rect">
            <a:avLst/>
          </a:prstGeom>
          <a:solidFill>
            <a:srgbClr val="1c273a"/>
          </a:solidFill>
          <a:ln w="1908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5" name="CustomShape 9"/>
          <p:cNvSpPr/>
          <p:nvPr/>
        </p:nvSpPr>
        <p:spPr>
          <a:xfrm>
            <a:off x="3337560" y="1600200"/>
            <a:ext cx="23313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800" spc="-1" strike="noStrike">
                <a:solidFill>
                  <a:srgbClr val="f97116"/>
                </a:solidFill>
                <a:latin typeface="Calibri"/>
              </a:rPr>
              <a:t>~98%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56" name="CustomShape 10"/>
          <p:cNvSpPr/>
          <p:nvPr/>
        </p:nvSpPr>
        <p:spPr>
          <a:xfrm>
            <a:off x="3337560" y="2286000"/>
            <a:ext cx="23313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Target precision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in auto-link zone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57" name="CustomShape 11"/>
          <p:cNvSpPr/>
          <p:nvPr/>
        </p:nvSpPr>
        <p:spPr>
          <a:xfrm>
            <a:off x="6035040" y="1508760"/>
            <a:ext cx="2605680" cy="1416960"/>
          </a:xfrm>
          <a:prstGeom prst="rect">
            <a:avLst/>
          </a:prstGeom>
          <a:solidFill>
            <a:srgbClr val="1c273a"/>
          </a:solidFill>
          <a:ln w="19080">
            <a:solidFill>
              <a:srgbClr val="3fb95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58" name="CustomShape 12"/>
          <p:cNvSpPr/>
          <p:nvPr/>
        </p:nvSpPr>
        <p:spPr>
          <a:xfrm>
            <a:off x="6172200" y="1600200"/>
            <a:ext cx="23313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800" spc="-1" strike="noStrike">
                <a:solidFill>
                  <a:srgbClr val="3fb950"/>
                </a:solidFill>
                <a:latin typeface="Calibri"/>
              </a:rPr>
              <a:t>&lt; 3s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59" name="CustomShape 13"/>
          <p:cNvSpPr/>
          <p:nvPr/>
        </p:nvSpPr>
        <p:spPr>
          <a:xfrm>
            <a:off x="6172200" y="2286000"/>
            <a:ext cx="23313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Analytical query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over full registry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0" name="CustomShape 14"/>
          <p:cNvSpPr/>
          <p:nvPr/>
        </p:nvSpPr>
        <p:spPr>
          <a:xfrm>
            <a:off x="8869680" y="1508760"/>
            <a:ext cx="2605680" cy="1416960"/>
          </a:xfrm>
          <a:prstGeom prst="rect">
            <a:avLst/>
          </a:prstGeom>
          <a:solidFill>
            <a:srgbClr val="1c273a"/>
          </a:solidFill>
          <a:ln w="1908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CustomShape 15"/>
          <p:cNvSpPr/>
          <p:nvPr/>
        </p:nvSpPr>
        <p:spPr>
          <a:xfrm>
            <a:off x="9006840" y="1600200"/>
            <a:ext cx="2331360" cy="66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3800" spc="-1" strike="noStrike">
                <a:solidFill>
                  <a:srgbClr val="2dd4bf"/>
                </a:solidFill>
                <a:latin typeface="Calibri"/>
              </a:rPr>
              <a:t>–</a:t>
            </a:r>
            <a:r>
              <a:rPr b="1" lang="en-US" sz="3800" spc="-1" strike="noStrike">
                <a:solidFill>
                  <a:srgbClr val="2dd4bf"/>
                </a:solidFill>
                <a:latin typeface="Calibri"/>
              </a:rPr>
              <a:t>40%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62" name="CustomShape 16"/>
          <p:cNvSpPr/>
          <p:nvPr/>
        </p:nvSpPr>
        <p:spPr>
          <a:xfrm>
            <a:off x="9006840" y="2286000"/>
            <a:ext cx="23313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Review queue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200" spc="-1" strike="noStrike">
                <a:solidFill>
                  <a:srgbClr val="c9d1d9"/>
                </a:solidFill>
                <a:latin typeface="Calibri"/>
              </a:rPr>
              <a:t>shrinks in 3 months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63" name="CustomShape 17"/>
          <p:cNvSpPr/>
          <p:nvPr/>
        </p:nvSpPr>
        <p:spPr>
          <a:xfrm>
            <a:off x="365760" y="3108960"/>
            <a:ext cx="5668920" cy="15084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4" name="CustomShape 18"/>
          <p:cNvSpPr/>
          <p:nvPr/>
        </p:nvSpPr>
        <p:spPr>
          <a:xfrm>
            <a:off x="365760" y="3108960"/>
            <a:ext cx="63720" cy="15084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5" name="CustomShape 19"/>
          <p:cNvSpPr/>
          <p:nvPr/>
        </p:nvSpPr>
        <p:spPr>
          <a:xfrm>
            <a:off x="567000" y="3218760"/>
            <a:ext cx="53946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Single-Window Compliance View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66" name="CustomShape 20"/>
          <p:cNvSpPr/>
          <p:nvPr/>
        </p:nvSpPr>
        <p:spPr>
          <a:xfrm>
            <a:off x="567000" y="3639240"/>
            <a:ext cx="539460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Any inspector queries by any department ID and sees the complete compliance picture — licences, inspections, filings, utility consumption — for that business across all departments.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67" name="CustomShape 21"/>
          <p:cNvSpPr/>
          <p:nvPr/>
        </p:nvSpPr>
        <p:spPr>
          <a:xfrm>
            <a:off x="6263640" y="3108960"/>
            <a:ext cx="5668920" cy="15084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8" name="CustomShape 22"/>
          <p:cNvSpPr/>
          <p:nvPr/>
        </p:nvSpPr>
        <p:spPr>
          <a:xfrm>
            <a:off x="6263640" y="3108960"/>
            <a:ext cx="63720" cy="150840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9" name="CustomShape 23"/>
          <p:cNvSpPr/>
          <p:nvPr/>
        </p:nvSpPr>
        <p:spPr>
          <a:xfrm>
            <a:off x="6464880" y="3218760"/>
            <a:ext cx="53946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f97116"/>
                </a:solidFill>
                <a:latin typeface="Calibri"/>
              </a:rPr>
              <a:t>Proactive Outreach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0" name="CustomShape 24"/>
          <p:cNvSpPr/>
          <p:nvPr/>
        </p:nvSpPr>
        <p:spPr>
          <a:xfrm>
            <a:off x="6464880" y="3639240"/>
            <a:ext cx="539460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Filter 'Active factories with no safety inspection in 18 months' in one SQL query over Iceberg. Target outreach precisely without manual cross-referencing.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1" name="CustomShape 25"/>
          <p:cNvSpPr/>
          <p:nvPr/>
        </p:nvSpPr>
        <p:spPr>
          <a:xfrm>
            <a:off x="365760" y="4800600"/>
            <a:ext cx="5668920" cy="15084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2" name="CustomShape 26"/>
          <p:cNvSpPr/>
          <p:nvPr/>
        </p:nvSpPr>
        <p:spPr>
          <a:xfrm>
            <a:off x="365760" y="4800600"/>
            <a:ext cx="63720" cy="15084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3" name="CustomShape 27"/>
          <p:cNvSpPr/>
          <p:nvPr/>
        </p:nvSpPr>
        <p:spPr>
          <a:xfrm>
            <a:off x="567000" y="4910400"/>
            <a:ext cx="53946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</a:rPr>
              <a:t>Dormancy &amp; Closure Detection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4" name="CustomShape 28"/>
          <p:cNvSpPr/>
          <p:nvPr/>
        </p:nvSpPr>
        <p:spPr>
          <a:xfrm>
            <a:off x="567000" y="5330880"/>
            <a:ext cx="539460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Activity classification (Active / Dormant / Closed) across all departments simultaneously. Identify ghost businesses still holding licences from departments that haven't synced closure events.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75" name="CustomShape 29"/>
          <p:cNvSpPr/>
          <p:nvPr/>
        </p:nvSpPr>
        <p:spPr>
          <a:xfrm>
            <a:off x="6263640" y="4800600"/>
            <a:ext cx="5668920" cy="1508400"/>
          </a:xfrm>
          <a:prstGeom prst="rect">
            <a:avLst/>
          </a:prstGeom>
          <a:solidFill>
            <a:srgbClr val="1c273a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6" name="CustomShape 30"/>
          <p:cNvSpPr/>
          <p:nvPr/>
        </p:nvSpPr>
        <p:spPr>
          <a:xfrm>
            <a:off x="6263640" y="4800600"/>
            <a:ext cx="63720" cy="1508400"/>
          </a:xfrm>
          <a:prstGeom prst="rect">
            <a:avLst/>
          </a:prstGeom>
          <a:solidFill>
            <a:srgbClr val="3fb950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7" name="CustomShape 31"/>
          <p:cNvSpPr/>
          <p:nvPr/>
        </p:nvSpPr>
        <p:spPr>
          <a:xfrm>
            <a:off x="6464880" y="4910400"/>
            <a:ext cx="53946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</a:rPr>
              <a:t>Cross-Department Analytics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8" name="CustomShape 32"/>
          <p:cNvSpPr/>
          <p:nvPr/>
        </p:nvSpPr>
        <p:spPr>
          <a:xfrm>
            <a:off x="6464880" y="5330880"/>
            <a:ext cx="539460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Answer 'how many businesses in pin code 560058 are registered in Shop but not in Factories?' instantly — questions that were previously unanswerable without manual reconciliation.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CustomShape 1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0" name="CustomShape 2"/>
          <p:cNvSpPr/>
          <p:nvPr/>
        </p:nvSpPr>
        <p:spPr>
          <a:xfrm>
            <a:off x="274320" y="182880"/>
            <a:ext cx="11612520" cy="45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1" name="CustomShape 3"/>
          <p:cNvSpPr/>
          <p:nvPr/>
        </p:nvSpPr>
        <p:spPr>
          <a:xfrm>
            <a:off x="274320" y="6629400"/>
            <a:ext cx="11612520" cy="45360"/>
          </a:xfrm>
          <a:prstGeom prst="rect">
            <a:avLst/>
          </a:prstGeom>
          <a:solidFill>
            <a:srgbClr val="f97116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2" name="CustomShape 4"/>
          <p:cNvSpPr/>
          <p:nvPr/>
        </p:nvSpPr>
        <p:spPr>
          <a:xfrm>
            <a:off x="457200" y="1371600"/>
            <a:ext cx="10972440" cy="106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1" lang="en-US" sz="6400" spc="-1" strike="noStrike">
                <a:solidFill>
                  <a:srgbClr val="ffffff"/>
                </a:solidFill>
                <a:latin typeface="Calibri"/>
              </a:rPr>
              <a:t>Thank You</a:t>
            </a:r>
            <a:endParaRPr b="0" lang="en-IN" sz="6400" spc="-1" strike="noStrike">
              <a:latin typeface="Arial"/>
            </a:endParaRPr>
          </a:p>
        </p:txBody>
      </p:sp>
      <p:sp>
        <p:nvSpPr>
          <p:cNvPr id="383" name="CustomShape 5"/>
          <p:cNvSpPr/>
          <p:nvPr/>
        </p:nvSpPr>
        <p:spPr>
          <a:xfrm>
            <a:off x="457200" y="2606040"/>
            <a:ext cx="10972440" cy="39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2000" spc="-1" strike="noStrike">
                <a:solidFill>
                  <a:srgbClr val="38bdf8"/>
                </a:solidFill>
                <a:latin typeface="Calibri"/>
              </a:rPr>
              <a:t>UBID Platform  —  Unified Business Identity &amp; Activity Intelligence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384" name="CustomShape 6"/>
          <p:cNvSpPr/>
          <p:nvPr/>
        </p:nvSpPr>
        <p:spPr>
          <a:xfrm>
            <a:off x="457200" y="3154680"/>
            <a:ext cx="109724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lang="en-US" sz="1300" spc="-1" strike="noStrike">
                <a:solidFill>
                  <a:srgbClr val="8b949e"/>
                </a:solidFill>
                <a:latin typeface="Calibri"/>
              </a:rPr>
              <a:t>AI for Bharat Hackathon  ·  Theme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5" name="CustomShape 7"/>
          <p:cNvSpPr/>
          <p:nvPr/>
        </p:nvSpPr>
        <p:spPr>
          <a:xfrm>
            <a:off x="365760" y="3931920"/>
            <a:ext cx="2697120" cy="2285640"/>
          </a:xfrm>
          <a:prstGeom prst="rect">
            <a:avLst/>
          </a:prstGeom>
          <a:solidFill>
            <a:srgbClr val="1c273a"/>
          </a:solidFill>
          <a:ln w="15120">
            <a:solidFill>
              <a:srgbClr val="38bdf8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6" name="CustomShape 8"/>
          <p:cNvSpPr/>
          <p:nvPr/>
        </p:nvSpPr>
        <p:spPr>
          <a:xfrm>
            <a:off x="502920" y="4069080"/>
            <a:ext cx="24228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Deterministic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38bdf8"/>
                </a:solidFill>
                <a:latin typeface="Calibri"/>
              </a:rPr>
              <a:t>Entity Resolution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7" name="CustomShape 9"/>
          <p:cNvSpPr/>
          <p:nvPr/>
        </p:nvSpPr>
        <p:spPr>
          <a:xfrm>
            <a:off x="502920" y="4754880"/>
            <a:ext cx="2422800" cy="59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Multi-signal scoring + Union-Find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clustering for UBID assignment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8" name="CustomShape 10"/>
          <p:cNvSpPr/>
          <p:nvPr/>
        </p:nvSpPr>
        <p:spPr>
          <a:xfrm>
            <a:off x="3200400" y="3931920"/>
            <a:ext cx="2697120" cy="2285640"/>
          </a:xfrm>
          <a:prstGeom prst="rect">
            <a:avLst/>
          </a:prstGeom>
          <a:solidFill>
            <a:srgbClr val="1c273a"/>
          </a:solidFill>
          <a:ln w="15120">
            <a:solidFill>
              <a:srgbClr val="f97116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9" name="CustomShape 11"/>
          <p:cNvSpPr/>
          <p:nvPr/>
        </p:nvSpPr>
        <p:spPr>
          <a:xfrm>
            <a:off x="3337560" y="4069080"/>
            <a:ext cx="24228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f97116"/>
                </a:solidFill>
                <a:latin typeface="Calibri"/>
              </a:rPr>
              <a:t>Human-in-the-Loop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f97116"/>
                </a:solidFill>
                <a:latin typeface="Calibri"/>
              </a:rPr>
              <a:t>Review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0" name="CustomShape 12"/>
          <p:cNvSpPr/>
          <p:nvPr/>
        </p:nvSpPr>
        <p:spPr>
          <a:xfrm>
            <a:off x="3337560" y="4754880"/>
            <a:ext cx="24228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Ambiguous pairs never auto-committed.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Reviewer UI with evidence cards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1" name="CustomShape 13"/>
          <p:cNvSpPr/>
          <p:nvPr/>
        </p:nvSpPr>
        <p:spPr>
          <a:xfrm>
            <a:off x="6035040" y="3931920"/>
            <a:ext cx="2697120" cy="2285640"/>
          </a:xfrm>
          <a:prstGeom prst="rect">
            <a:avLst/>
          </a:prstGeom>
          <a:solidFill>
            <a:srgbClr val="1c273a"/>
          </a:solidFill>
          <a:ln w="15120">
            <a:solidFill>
              <a:srgbClr val="2dd4bf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2" name="CustomShape 14"/>
          <p:cNvSpPr/>
          <p:nvPr/>
        </p:nvSpPr>
        <p:spPr>
          <a:xfrm>
            <a:off x="6172200" y="4069080"/>
            <a:ext cx="24228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2dd4bf"/>
                </a:solidFill>
                <a:latin typeface="Calibri"/>
              </a:rPr>
              <a:t>Active Learning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2dd4bf"/>
                </a:solidFill>
                <a:latin typeface="Calibri"/>
              </a:rPr>
              <a:t>Feedback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3" name="CustomShape 15"/>
          <p:cNvSpPr/>
          <p:nvPr/>
        </p:nvSpPr>
        <p:spPr>
          <a:xfrm>
            <a:off x="6172200" y="4754880"/>
            <a:ext cx="242280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Reviewer decisions improve model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weights — smaller queue each batch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4" name="CustomShape 16"/>
          <p:cNvSpPr/>
          <p:nvPr/>
        </p:nvSpPr>
        <p:spPr>
          <a:xfrm>
            <a:off x="8869680" y="3931920"/>
            <a:ext cx="2697120" cy="2285640"/>
          </a:xfrm>
          <a:prstGeom prst="rect">
            <a:avLst/>
          </a:prstGeom>
          <a:solidFill>
            <a:srgbClr val="1c273a"/>
          </a:solidFill>
          <a:ln w="15120">
            <a:solidFill>
              <a:srgbClr val="3fb950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95" name="CustomShape 17"/>
          <p:cNvSpPr/>
          <p:nvPr/>
        </p:nvSpPr>
        <p:spPr>
          <a:xfrm>
            <a:off x="9006840" y="4069080"/>
            <a:ext cx="2422800" cy="486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1" lang="en-US" sz="1300" spc="-1" strike="noStrike">
                <a:solidFill>
                  <a:srgbClr val="3fb950"/>
                </a:solidFill>
                <a:latin typeface="Calibri"/>
              </a:rPr>
              <a:t>Production Path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1300" spc="-1" strike="noStrike">
                <a:solidFill>
                  <a:srgbClr val="3fb950"/>
                </a:solidFill>
                <a:latin typeface="Calibri"/>
              </a:rPr>
              <a:t>via Splink + Spark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6" name="CustomShape 18"/>
          <p:cNvSpPr/>
          <p:nvPr/>
        </p:nvSpPr>
        <p:spPr>
          <a:xfrm>
            <a:off x="9006840" y="4754880"/>
            <a:ext cx="2422800" cy="425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Same pipeline logic, enterprise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100" spc="-1" strike="noStrike">
                <a:solidFill>
                  <a:srgbClr val="c9d1d9"/>
                </a:solidFill>
                <a:latin typeface="Calibri"/>
              </a:rPr>
              <a:t>stack: Kafka, Iceberg, Trino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97" name="CustomShape 19"/>
          <p:cNvSpPr/>
          <p:nvPr/>
        </p:nvSpPr>
        <p:spPr>
          <a:xfrm>
            <a:off x="457200" y="6355080"/>
            <a:ext cx="109724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</a:pPr>
            <a:r>
              <a:rPr b="0" i="1" lang="en-US" sz="1100" spc="-1" strike="noStrike">
                <a:solidFill>
                  <a:srgbClr val="8b949e"/>
                </a:solidFill>
                <a:latin typeface="Calibri"/>
              </a:rPr>
              <a:t>Zero external dependencies in PoC  ·  Java 17  ·  Plain HTML/CSS/JS  ·  Local filesystem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2026-05-07T02:24:02Z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